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1" r:id="rId2"/>
    <p:sldId id="257" r:id="rId3"/>
    <p:sldId id="263" r:id="rId4"/>
    <p:sldId id="264" r:id="rId5"/>
    <p:sldId id="270" r:id="rId6"/>
    <p:sldId id="271" r:id="rId7"/>
    <p:sldId id="265" r:id="rId8"/>
    <p:sldId id="272" r:id="rId9"/>
    <p:sldId id="268" r:id="rId10"/>
    <p:sldId id="267" r:id="rId11"/>
    <p:sldId id="273" r:id="rId12"/>
    <p:sldId id="269" r:id="rId13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2D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5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5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3259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2EA603-7AD3-F098-6E04-82FA7AE130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F67FB-3D9C-B828-37BE-0F76247188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E2B7F-3F92-47C2-91BC-3C63869242A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20ED8-9FBD-9974-C48E-0B6A89AB9F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4EE27-93EB-EB2F-F133-14AED7F197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DD92E-AD75-4B4F-B4AB-E86F80076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17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7B7D2-70F6-4F0C-8D0D-849BECD861D6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AA95B0-E409-4528-8D72-F4D3DA6E9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13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A95B0-E409-4528-8D72-F4D3DA6E95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78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A95B0-E409-4528-8D72-F4D3DA6E95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60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A95B0-E409-4528-8D72-F4D3DA6E95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76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4FAFAFF3-D3F5-EFD6-A992-CECAC2ACAD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221781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"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8913DC2-A25D-8829-3923-0C0F584ED3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991" y="1934667"/>
            <a:ext cx="11000018" cy="763834"/>
          </a:xfrm>
        </p:spPr>
        <p:txBody>
          <a:bodyPr vert="horz" anchor="ctr">
            <a:normAutofit/>
          </a:bodyPr>
          <a:lstStyle>
            <a:lvl1pPr algn="l">
              <a:defRPr sz="4800"/>
            </a:lvl1pPr>
          </a:lstStyle>
          <a:p>
            <a:r>
              <a:rPr lang="en-US" dirty="0"/>
              <a:t>Nome do </a:t>
            </a:r>
            <a:r>
              <a:rPr lang="en-US" dirty="0" err="1"/>
              <a:t>Projeto</a:t>
            </a:r>
            <a:endParaRPr lang="en-US" dirty="0"/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39E67E7-C0CB-35F3-C15C-F73229E9EB0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91" y="419697"/>
            <a:ext cx="2201637" cy="763834"/>
          </a:xfrm>
          <a:prstGeom prst="rect">
            <a:avLst/>
          </a:prstGeom>
        </p:spPr>
      </p:pic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1368AFC2-94B7-1919-DD37-4909EFA3E36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95991" y="2881518"/>
            <a:ext cx="11000017" cy="547482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 err="1"/>
              <a:t>Curso</a:t>
            </a:r>
            <a:r>
              <a:rPr lang="en-US" dirty="0"/>
              <a:t> - UC</a:t>
            </a:r>
          </a:p>
        </p:txBody>
      </p:sp>
      <p:sp>
        <p:nvSpPr>
          <p:cNvPr id="44" name="Content Placeholder 41">
            <a:extLst>
              <a:ext uri="{FF2B5EF4-FFF2-40B4-BE49-F238E27FC236}">
                <a16:creationId xmlns:a16="http://schemas.microsoft.com/office/drawing/2014/main" id="{39840329-1242-50E4-5542-D1E1ED653B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991" y="3610175"/>
            <a:ext cx="11000017" cy="36512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45" name="Content Placeholder 41">
            <a:extLst>
              <a:ext uri="{FF2B5EF4-FFF2-40B4-BE49-F238E27FC236}">
                <a16:creationId xmlns:a16="http://schemas.microsoft.com/office/drawing/2014/main" id="{8E89E7F1-342B-8111-9036-64FE1006D6E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60771" y="4593359"/>
            <a:ext cx="4335237" cy="1762991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err="1"/>
              <a:t>Elementos</a:t>
            </a:r>
            <a:r>
              <a:rPr lang="en-US" dirty="0"/>
              <a:t> do Grupo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64EE4C-85B2-D0F7-0714-A8759116CF58}"/>
              </a:ext>
            </a:extLst>
          </p:cNvPr>
          <p:cNvSpPr txBox="1"/>
          <p:nvPr userDrawn="1"/>
        </p:nvSpPr>
        <p:spPr>
          <a:xfrm>
            <a:off x="595991" y="6401922"/>
            <a:ext cx="772886" cy="317241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lang="en-US" sz="1800" b="1" dirty="0">
                <a:solidFill>
                  <a:srgbClr val="8C2D19"/>
                </a:solidFill>
              </a:rPr>
              <a:t>FEUP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0DD0AA1-E254-4899-7598-49033B734852}"/>
              </a:ext>
            </a:extLst>
          </p:cNvPr>
          <p:cNvSpPr/>
          <p:nvPr userDrawn="1"/>
        </p:nvSpPr>
        <p:spPr>
          <a:xfrm>
            <a:off x="2612566" y="6446243"/>
            <a:ext cx="4114800" cy="228600"/>
          </a:xfrm>
          <a:prstGeom prst="rect">
            <a:avLst/>
          </a:prstGeom>
          <a:solidFill>
            <a:srgbClr val="8C2D19"/>
          </a:solidFill>
          <a:ln>
            <a:solidFill>
              <a:srgbClr val="8C2D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94F06A8-01CA-83B4-F535-76C3D922AEA2}"/>
              </a:ext>
            </a:extLst>
          </p:cNvPr>
          <p:cNvSpPr/>
          <p:nvPr userDrawn="1"/>
        </p:nvSpPr>
        <p:spPr>
          <a:xfrm>
            <a:off x="6727366" y="6446243"/>
            <a:ext cx="41148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5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4E122-DC50-2EFF-B55F-DD59CFC22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B758C-FE2B-248F-DC7A-5A98A4A68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BAC49-F3DB-41E1-2608-14218324C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8407-3B1A-4722-8406-36A5FFDEF9A9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0BE19-E6E9-933A-97C4-FB82DB161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3C726-2991-C3BD-2C55-DE9132289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1C0AB8-4AF9-4E8B-9E03-E39E88D7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43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72835-82DE-607A-CCD8-A198BB17D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0570B-76D7-1F36-D439-0C9D44B12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36C39-A390-D57D-DA45-A21328681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44FA-111F-4F23-92A2-38D6DFE9F80C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14A1-B290-CDBC-87EA-336067CF3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496C0-6BFF-9312-5A61-DAC72A74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1C0AB8-4AF9-4E8B-9E03-E39E88D7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4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ABFB2-2B97-ADBC-D771-00DF73571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CCC7A-1BBC-54CA-7756-BECFFE291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8073E-1EEE-21E5-BF8B-3312B284F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FB7E2-6C99-9994-6F9F-751B507B2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71706-8B7C-4F1E-A27E-3F8CC2F3EE4E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1B5C9-5772-6B70-AA67-5E998EFEB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C3718-6292-29BD-720C-B534484C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1C0AB8-4AF9-4E8B-9E03-E39E88D7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6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EAB6B-67D7-F793-10C1-20C997F2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BE628-D7BB-BB1B-68C8-EC41634BD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C63AF-23C4-7206-260F-AB66C28B8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BC651B-33A1-C8D7-FE4E-AF3D67F6F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01661-1F93-4EAA-A054-7050B7FC2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4F2FD6-C3EC-F58C-36EC-F4A3246BE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332B-A4FC-4AD7-AF95-0813B45B8BE1}" type="datetime1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FDDEA9-81F2-D70A-2253-4698D121E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D3B12-9889-3002-504E-AA3C17A74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1C0AB8-4AF9-4E8B-9E03-E39E88D7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89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AD806634-8820-5B8A-A74F-40E5112703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940206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5"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A4D15A-F2B9-ECF7-FA69-D530499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91" y="203619"/>
            <a:ext cx="11000018" cy="895838"/>
          </a:xfrm>
        </p:spPr>
        <p:txBody>
          <a:bodyPr vert="horz" lIns="0" tIns="0" rIns="0" bIns="0">
            <a:normAutofit/>
          </a:bodyPr>
          <a:lstStyle>
            <a:lvl1pPr>
              <a:defRPr sz="320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 </a:t>
            </a:r>
            <a:r>
              <a:rPr lang="en-US" dirty="0" err="1"/>
              <a:t>cdjbjdnvjdv</a:t>
            </a:r>
            <a:r>
              <a:rPr lang="en-US" dirty="0"/>
              <a:t> mf </a:t>
            </a:r>
            <a:r>
              <a:rPr lang="en-US" dirty="0" err="1"/>
              <a:t>fjnkfcneknfc</a:t>
            </a:r>
            <a:r>
              <a:rPr lang="en-US" dirty="0"/>
              <a:t> </a:t>
            </a:r>
            <a:r>
              <a:rPr lang="en-US" dirty="0" err="1"/>
              <a:t>jfnkdfnckjd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463AA4-F2E8-EC8F-0CC1-0B06F1168512}"/>
              </a:ext>
            </a:extLst>
          </p:cNvPr>
          <p:cNvSpPr/>
          <p:nvPr userDrawn="1"/>
        </p:nvSpPr>
        <p:spPr>
          <a:xfrm>
            <a:off x="2612566" y="6446243"/>
            <a:ext cx="4114800" cy="228600"/>
          </a:xfrm>
          <a:prstGeom prst="rect">
            <a:avLst/>
          </a:prstGeom>
          <a:solidFill>
            <a:srgbClr val="8C2D19"/>
          </a:solidFill>
          <a:ln>
            <a:solidFill>
              <a:srgbClr val="8C2D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222D80-2934-A205-4B17-A3BAB333D219}"/>
              </a:ext>
            </a:extLst>
          </p:cNvPr>
          <p:cNvSpPr/>
          <p:nvPr userDrawn="1"/>
        </p:nvSpPr>
        <p:spPr>
          <a:xfrm>
            <a:off x="6727366" y="6446243"/>
            <a:ext cx="41148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E1C04-F962-CEEF-74AD-A5A0BB5E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5009" y="6377981"/>
            <a:ext cx="381000" cy="365125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61C0AB8-4AF9-4E8B-9E03-E39E88D7668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8" name="Picture 3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BBE4157-E756-041E-6C96-1F6614FF92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91" y="6401923"/>
            <a:ext cx="914400" cy="317241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EE0C2D1-1EAF-2076-EE73-7286D2E5B817}"/>
              </a:ext>
            </a:extLst>
          </p:cNvPr>
          <p:cNvCxnSpPr>
            <a:cxnSpLocks/>
          </p:cNvCxnSpPr>
          <p:nvPr userDrawn="1"/>
        </p:nvCxnSpPr>
        <p:spPr>
          <a:xfrm>
            <a:off x="595991" y="1235964"/>
            <a:ext cx="1100001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295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5D4AC7-4300-0635-D55D-F090B932D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3DC9-FB97-4F49-8872-7F7130E7558A}" type="datetime1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A71DB-4AAC-C819-2ED3-BD3CD9A34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D257A-D691-18FC-8C63-E44A2F14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1C0AB8-4AF9-4E8B-9E03-E39E88D7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1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92A7-33CA-3F0E-6817-633E49111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9367B-1927-124B-C2A3-0A44F1E7C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C617D-EF6B-B4A9-1FD1-BD89BB871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7AF37-9829-7B5E-A058-239C23A3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69CB-7332-4EED-99C7-674A9D61843F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17455-9B70-4864-5A11-E90F78310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AAA10-86A8-0B62-3AE4-559C67CFE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1C0AB8-4AF9-4E8B-9E03-E39E88D7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2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5B905-5EB2-6664-45FF-4FCE49E43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F7E522-DCA7-5474-C304-143E1E544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9C557-4DC3-800A-6621-973197363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03EFB-2DA2-4EDD-83D8-7D703A9A8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C51EC-055F-4B3C-B28F-2DD2262A10C9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039EB-1D7F-640D-1854-A03F1412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1965D-0143-EF58-181B-5244CE46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1C0AB8-4AF9-4E8B-9E03-E39E88D7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50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791CE-0B31-E4C1-C4DB-BFC40EBA8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841FF-C774-0270-26C6-FED48A87A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9828F-D2D1-1EF0-BC17-3152CF1EE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F2FB-E702-42A9-8947-670795A4547B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B5898-852B-4A76-7C76-3CF6DF35D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06CC6-CAF4-C0E0-7028-26902B37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1C0AB8-4AF9-4E8B-9E03-E39E88D7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45F746-80FE-2729-4857-0619666E55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437DE-CDEC-B9D9-8A93-1ADF28F15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EF980-9AFD-08D4-87D9-887B83FCF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FB93F-1ADE-4884-B321-E16986B0E4B2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06D5E-E609-15D5-7E12-E9913E7F5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000E9-7900-41AC-C0B9-3354B577D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1C0AB8-4AF9-4E8B-9E03-E39E88D7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0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05A392A2-5854-3763-D896-DF9E35167E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458064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" name="think-cell Slide" r:id="rId15" imgW="473" imgH="473" progId="TCLayout.ActiveDocument.1">
                  <p:embed/>
                </p:oleObj>
              </mc:Choice>
              <mc:Fallback>
                <p:oleObj name="think-cell Slide" r:id="rId15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73E918-B7C9-499E-A615-8A05333E1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15053-A614-51C4-D440-77993759B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E399F-5771-9597-6C5C-71B399C4E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60C1B-A6FD-423E-9DD5-0938F61D2E01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36C36-62CD-31E2-962D-051CD9357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96AC6-24D6-958C-3957-0CCA62C58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1C0AB8-4AF9-4E8B-9E03-E39E88D7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4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svg"/><Relationship Id="rId3" Type="http://schemas.openxmlformats.org/officeDocument/2006/relationships/slideLayout" Target="../slideLayouts/slideLayout6.xml"/><Relationship Id="rId7" Type="http://schemas.openxmlformats.org/officeDocument/2006/relationships/hyperlink" Target="http://ws.audioscrobbler.com/2.0/" TargetMode="External"/><Relationship Id="rId12" Type="http://schemas.openxmlformats.org/officeDocument/2006/relationships/image" Target="../media/image8.png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.emf"/><Relationship Id="rId11" Type="http://schemas.openxmlformats.org/officeDocument/2006/relationships/image" Target="../media/image7.svg"/><Relationship Id="rId5" Type="http://schemas.openxmlformats.org/officeDocument/2006/relationships/oleObject" Target="../embeddings/oleObject9.bin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2.png"/><Relationship Id="rId2" Type="http://schemas.openxmlformats.org/officeDocument/2006/relationships/tags" Target="../tags/tag15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D2B4B3A-3A15-9CA0-CE6E-742928E5546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136295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1" name="think-cell Slide" r:id="rId5" imgW="473" imgH="473" progId="TCLayout.ActiveDocument.1">
                  <p:embed/>
                </p:oleObj>
              </mc:Choice>
              <mc:Fallback>
                <p:oleObj name="think-cell Slide" r:id="rId5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6E923B57-E5A3-97CC-4EFF-F1BDE83B3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990" y="1855486"/>
            <a:ext cx="11000018" cy="763834"/>
          </a:xfrm>
        </p:spPr>
        <p:txBody>
          <a:bodyPr vert="horz">
            <a:normAutofit/>
          </a:bodyPr>
          <a:lstStyle/>
          <a:p>
            <a:pPr algn="ctr"/>
            <a:r>
              <a:rPr lang="en-US" dirty="0" err="1"/>
              <a:t>Tunix</a:t>
            </a:r>
            <a:r>
              <a:rPr lang="en-US" dirty="0"/>
              <a:t> - Music Search System</a:t>
            </a:r>
          </a:p>
        </p:txBody>
      </p:sp>
      <p:sp>
        <p:nvSpPr>
          <p:cNvPr id="6" name="Content Placeholder 41">
            <a:extLst>
              <a:ext uri="{FF2B5EF4-FFF2-40B4-BE49-F238E27FC236}">
                <a16:creationId xmlns:a16="http://schemas.microsoft.com/office/drawing/2014/main" id="{BED41D8C-0009-407D-E590-E173F31A9FF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95991" y="3094054"/>
            <a:ext cx="11000017" cy="547482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	Information Processing and Retrieval – Milestone 1</a:t>
            </a:r>
          </a:p>
        </p:txBody>
      </p:sp>
      <p:sp>
        <p:nvSpPr>
          <p:cNvPr id="7" name="Content Placeholder 41">
            <a:extLst>
              <a:ext uri="{FF2B5EF4-FFF2-40B4-BE49-F238E27FC236}">
                <a16:creationId xmlns:a16="http://schemas.microsoft.com/office/drawing/2014/main" id="{753A590A-BD7A-9748-7D70-5996E375363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991" y="3822711"/>
            <a:ext cx="11000017" cy="365125"/>
          </a:xfrm>
        </p:spPr>
        <p:txBody>
          <a:bodyPr anchor="ctr">
            <a:normAutofit lnSpcReduction="10000"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13-10-2025</a:t>
            </a:r>
          </a:p>
        </p:txBody>
      </p:sp>
      <p:sp>
        <p:nvSpPr>
          <p:cNvPr id="8" name="Content Placeholder 41">
            <a:extLst>
              <a:ext uri="{FF2B5EF4-FFF2-40B4-BE49-F238E27FC236}">
                <a16:creationId xmlns:a16="http://schemas.microsoft.com/office/drawing/2014/main" id="{654C6866-ECE0-2F90-A326-6C9507F2A02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48600" y="4801493"/>
            <a:ext cx="4238625" cy="1541264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pt-PT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pt-PT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Nuno Rios (up202206272@up.pt)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Rodrigo Resende (up202108750@up.pt)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Rodrigo Ribeiro (up202206396@up.pt)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António Pereira (up202205501@up.pt)</a:t>
            </a:r>
            <a:br>
              <a:rPr lang="pt-PT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pt-PT" sz="1800" dirty="0"/>
            </a:br>
            <a:endParaRPr lang="pt-BR" sz="18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C9568D-AD87-A651-A4F1-A347C6659501}"/>
              </a:ext>
            </a:extLst>
          </p:cNvPr>
          <p:cNvCxnSpPr>
            <a:cxnSpLocks/>
          </p:cNvCxnSpPr>
          <p:nvPr/>
        </p:nvCxnSpPr>
        <p:spPr>
          <a:xfrm>
            <a:off x="595991" y="2839098"/>
            <a:ext cx="11000018" cy="0"/>
          </a:xfrm>
          <a:prstGeom prst="line">
            <a:avLst/>
          </a:prstGeom>
          <a:ln w="38100">
            <a:solidFill>
              <a:srgbClr val="8C2D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7E7D4FC-7110-4530-AA7E-2A0176911DEE}"/>
              </a:ext>
            </a:extLst>
          </p:cNvPr>
          <p:cNvSpPr txBox="1"/>
          <p:nvPr/>
        </p:nvSpPr>
        <p:spPr>
          <a:xfrm>
            <a:off x="1724025" y="4591050"/>
            <a:ext cx="4991100" cy="98107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l"/>
            <a:endParaRPr lang="pt-PT" sz="2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48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1C09C0E-4560-6624-9EE4-8DA955D4FBE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446772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8"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86609DE-22BB-15A4-13D1-28E5896D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91" y="258047"/>
            <a:ext cx="11000018" cy="888774"/>
          </a:xfrm>
        </p:spPr>
        <p:txBody>
          <a:bodyPr vert="horz"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400" dirty="0" err="1"/>
              <a:t>Tunix</a:t>
            </a:r>
            <a:r>
              <a:rPr lang="en-US" sz="4400" dirty="0"/>
              <a:t> - Music Search System</a:t>
            </a:r>
            <a:endParaRPr lang="en-US" sz="2800" dirty="0"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02131-D13B-26E9-3372-8B874CE2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C0AB8-4AF9-4E8B-9E03-E39E88D7668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29AFF-DF46-4ED9-9AFD-10D198890559}"/>
              </a:ext>
            </a:extLst>
          </p:cNvPr>
          <p:cNvSpPr txBox="1"/>
          <p:nvPr/>
        </p:nvSpPr>
        <p:spPr>
          <a:xfrm>
            <a:off x="1009649" y="1559688"/>
            <a:ext cx="92868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 err="1"/>
              <a:t>Main</a:t>
            </a:r>
            <a:r>
              <a:rPr lang="pt-PT" b="1" dirty="0"/>
              <a:t> </a:t>
            </a:r>
            <a:r>
              <a:rPr lang="pt-PT" b="1" dirty="0" err="1"/>
              <a:t>points</a:t>
            </a:r>
            <a:r>
              <a:rPr lang="pt-PT" b="1" dirty="0"/>
              <a:t>:</a:t>
            </a:r>
            <a:endParaRPr lang="pt-PT" dirty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err="1"/>
              <a:t>Traditional</a:t>
            </a:r>
            <a:r>
              <a:rPr lang="pt-PT" dirty="0"/>
              <a:t> </a:t>
            </a:r>
            <a:r>
              <a:rPr lang="pt-PT" dirty="0" err="1"/>
              <a:t>systems</a:t>
            </a:r>
            <a:r>
              <a:rPr lang="pt-PT" dirty="0"/>
              <a:t> (e.g., </a:t>
            </a:r>
            <a:r>
              <a:rPr lang="pt-PT" b="1" dirty="0" err="1"/>
              <a:t>Shazam</a:t>
            </a:r>
            <a:r>
              <a:rPr lang="pt-PT" dirty="0"/>
              <a:t>) </a:t>
            </a:r>
            <a:r>
              <a:rPr lang="pt-PT" dirty="0" err="1"/>
              <a:t>rely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b="1" dirty="0" err="1"/>
              <a:t>audio</a:t>
            </a:r>
            <a:r>
              <a:rPr lang="pt-PT" b="1" dirty="0"/>
              <a:t> </a:t>
            </a:r>
            <a:r>
              <a:rPr lang="pt-PT" b="1" dirty="0" err="1"/>
              <a:t>fingerprinting</a:t>
            </a:r>
            <a:r>
              <a:rPr lang="pt-PT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err="1"/>
              <a:t>However</a:t>
            </a:r>
            <a:r>
              <a:rPr lang="pt-PT" dirty="0"/>
              <a:t>, </a:t>
            </a:r>
            <a:r>
              <a:rPr lang="pt-PT" dirty="0" err="1"/>
              <a:t>users</a:t>
            </a:r>
            <a:r>
              <a:rPr lang="pt-PT" dirty="0"/>
              <a:t> </a:t>
            </a:r>
            <a:r>
              <a:rPr lang="pt-PT" dirty="0" err="1"/>
              <a:t>often</a:t>
            </a:r>
            <a:r>
              <a:rPr lang="pt-PT" dirty="0"/>
              <a:t> </a:t>
            </a:r>
            <a:r>
              <a:rPr lang="pt-PT" b="1" dirty="0" err="1"/>
              <a:t>remember</a:t>
            </a:r>
            <a:r>
              <a:rPr lang="pt-PT" b="1" dirty="0"/>
              <a:t> </a:t>
            </a:r>
            <a:r>
              <a:rPr lang="pt-PT" b="1" dirty="0" err="1"/>
              <a:t>lyrics</a:t>
            </a:r>
            <a:r>
              <a:rPr lang="pt-PT" dirty="0"/>
              <a:t>, </a:t>
            </a:r>
            <a:r>
              <a:rPr lang="pt-PT" dirty="0" err="1"/>
              <a:t>not</a:t>
            </a:r>
            <a:r>
              <a:rPr lang="pt-PT" dirty="0"/>
              <a:t> melodies.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 err="1"/>
              <a:t>Goal</a:t>
            </a:r>
            <a:r>
              <a:rPr lang="pt-PT" b="1" dirty="0"/>
              <a:t>:</a:t>
            </a:r>
            <a:r>
              <a:rPr lang="pt-PT" dirty="0"/>
              <a:t> </a:t>
            </a:r>
            <a:r>
              <a:rPr lang="pt-PT" dirty="0" err="1"/>
              <a:t>Retrieve</a:t>
            </a:r>
            <a:r>
              <a:rPr lang="pt-PT" dirty="0"/>
              <a:t> </a:t>
            </a:r>
            <a:r>
              <a:rPr lang="pt-PT" dirty="0" err="1"/>
              <a:t>songs</a:t>
            </a:r>
            <a:r>
              <a:rPr lang="pt-PT" dirty="0"/>
              <a:t>, </a:t>
            </a:r>
            <a:r>
              <a:rPr lang="pt-PT" dirty="0" err="1"/>
              <a:t>artists</a:t>
            </a:r>
            <a:r>
              <a:rPr lang="pt-PT" dirty="0"/>
              <a:t>,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metadata</a:t>
            </a:r>
            <a:r>
              <a:rPr lang="pt-PT" dirty="0"/>
              <a:t> </a:t>
            </a:r>
            <a:r>
              <a:rPr lang="pt-PT" b="1" dirty="0" err="1"/>
              <a:t>from</a:t>
            </a:r>
            <a:r>
              <a:rPr lang="pt-PT" b="1" dirty="0"/>
              <a:t> </a:t>
            </a:r>
            <a:r>
              <a:rPr lang="pt-PT" b="1" dirty="0" err="1"/>
              <a:t>text</a:t>
            </a:r>
            <a:r>
              <a:rPr lang="pt-PT" b="1" dirty="0"/>
              <a:t> </a:t>
            </a:r>
            <a:r>
              <a:rPr lang="pt-PT" b="1" dirty="0" err="1"/>
              <a:t>queries</a:t>
            </a:r>
            <a:r>
              <a:rPr lang="pt-PT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 err="1"/>
              <a:t>Tunix</a:t>
            </a:r>
            <a:r>
              <a:rPr lang="pt-PT" dirty="0"/>
              <a:t> </a:t>
            </a:r>
            <a:r>
              <a:rPr lang="pt-PT" dirty="0" err="1"/>
              <a:t>integrates</a:t>
            </a:r>
            <a:r>
              <a:rPr lang="pt-PT" dirty="0"/>
              <a:t> </a:t>
            </a:r>
            <a:r>
              <a:rPr lang="pt-PT" dirty="0" err="1"/>
              <a:t>multiple</a:t>
            </a:r>
            <a:r>
              <a:rPr lang="pt-PT" dirty="0"/>
              <a:t> </a:t>
            </a:r>
            <a:r>
              <a:rPr lang="pt-PT" dirty="0" err="1"/>
              <a:t>datasets</a:t>
            </a:r>
            <a:r>
              <a:rPr lang="pt-PT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err="1"/>
              <a:t>Tracks</a:t>
            </a:r>
            <a:r>
              <a:rPr lang="pt-PT" dirty="0"/>
              <a:t>, </a:t>
            </a:r>
            <a:r>
              <a:rPr lang="pt-PT" dirty="0" err="1"/>
              <a:t>artists</a:t>
            </a:r>
            <a:r>
              <a:rPr lang="pt-PT" dirty="0"/>
              <a:t>, </a:t>
            </a:r>
            <a:r>
              <a:rPr lang="pt-PT" dirty="0" err="1"/>
              <a:t>lyrics</a:t>
            </a:r>
            <a:r>
              <a:rPr lang="pt-PT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err="1"/>
              <a:t>Provides</a:t>
            </a:r>
            <a:r>
              <a:rPr lang="pt-PT" dirty="0"/>
              <a:t> contextual </a:t>
            </a:r>
            <a:r>
              <a:rPr lang="pt-PT" dirty="0" err="1"/>
              <a:t>info</a:t>
            </a:r>
            <a:r>
              <a:rPr lang="pt-PT" dirty="0"/>
              <a:t> </a:t>
            </a:r>
            <a:r>
              <a:rPr lang="pt-PT" dirty="0" err="1"/>
              <a:t>such</a:t>
            </a:r>
            <a:r>
              <a:rPr lang="pt-PT" dirty="0"/>
              <a:t>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b="1" dirty="0" err="1"/>
              <a:t>Artist</a:t>
            </a:r>
            <a:r>
              <a:rPr lang="pt-PT" b="1" dirty="0"/>
              <a:t> </a:t>
            </a:r>
            <a:r>
              <a:rPr lang="pt-PT" b="1" dirty="0" err="1"/>
              <a:t>biography</a:t>
            </a:r>
            <a:r>
              <a:rPr lang="pt-PT" dirty="0"/>
              <a:t>, </a:t>
            </a:r>
            <a:r>
              <a:rPr lang="pt-PT" b="1" dirty="0" err="1"/>
              <a:t>album</a:t>
            </a:r>
            <a:r>
              <a:rPr lang="pt-PT" b="1" dirty="0"/>
              <a:t> </a:t>
            </a:r>
            <a:r>
              <a:rPr lang="pt-PT" b="1" dirty="0" err="1"/>
              <a:t>details</a:t>
            </a:r>
            <a:r>
              <a:rPr lang="pt-PT" b="1" dirty="0"/>
              <a:t>, </a:t>
            </a:r>
            <a:r>
              <a:rPr lang="pt-PT" b="1" dirty="0" err="1"/>
              <a:t>lyrics</a:t>
            </a:r>
            <a:r>
              <a:rPr lang="pt-PT" b="1" dirty="0"/>
              <a:t>.</a:t>
            </a:r>
            <a:endParaRPr lang="pt-PT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Contributes</a:t>
            </a:r>
            <a:r>
              <a:rPr lang="pt-PT" dirty="0"/>
              <a:t> to </a:t>
            </a:r>
            <a:r>
              <a:rPr lang="pt-PT" b="1" dirty="0" err="1"/>
              <a:t>Information</a:t>
            </a:r>
            <a:r>
              <a:rPr lang="pt-PT" b="1" dirty="0"/>
              <a:t> </a:t>
            </a:r>
            <a:r>
              <a:rPr lang="pt-PT" b="1" dirty="0" err="1"/>
              <a:t>Retrieval</a:t>
            </a:r>
            <a:r>
              <a:rPr lang="pt-PT" dirty="0"/>
              <a:t> </a:t>
            </a: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building</a:t>
            </a:r>
            <a:r>
              <a:rPr lang="pt-PT" dirty="0"/>
              <a:t> a </a:t>
            </a:r>
            <a:r>
              <a:rPr lang="pt-PT" b="1" dirty="0" err="1"/>
              <a:t>structured</a:t>
            </a:r>
            <a:r>
              <a:rPr lang="pt-PT" b="1" dirty="0"/>
              <a:t> pipeline</a:t>
            </a:r>
            <a:r>
              <a:rPr lang="pt-PT" dirty="0"/>
              <a:t> for </a:t>
            </a:r>
            <a:r>
              <a:rPr lang="pt-PT" dirty="0" err="1"/>
              <a:t>text-based</a:t>
            </a:r>
            <a:r>
              <a:rPr lang="pt-PT" dirty="0"/>
              <a:t> </a:t>
            </a:r>
            <a:r>
              <a:rPr lang="pt-PT" dirty="0" err="1"/>
              <a:t>music</a:t>
            </a:r>
            <a:r>
              <a:rPr lang="pt-PT" dirty="0"/>
              <a:t> </a:t>
            </a:r>
            <a:r>
              <a:rPr lang="pt-PT" dirty="0" err="1"/>
              <a:t>search</a:t>
            </a:r>
            <a:r>
              <a:rPr lang="pt-PT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01B2CE-344B-4A67-886F-5B417FD0B5E4}"/>
              </a:ext>
            </a:extLst>
          </p:cNvPr>
          <p:cNvSpPr/>
          <p:nvPr/>
        </p:nvSpPr>
        <p:spPr>
          <a:xfrm>
            <a:off x="1009649" y="4695823"/>
            <a:ext cx="1885951" cy="11144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708C99-574D-4065-B8D4-198C913024A0}"/>
              </a:ext>
            </a:extLst>
          </p:cNvPr>
          <p:cNvCxnSpPr/>
          <p:nvPr/>
        </p:nvCxnSpPr>
        <p:spPr>
          <a:xfrm>
            <a:off x="3067050" y="5253035"/>
            <a:ext cx="1419225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57DDB9-B138-4AF2-B927-32EB169EC53D}"/>
              </a:ext>
            </a:extLst>
          </p:cNvPr>
          <p:cNvCxnSpPr/>
          <p:nvPr/>
        </p:nvCxnSpPr>
        <p:spPr>
          <a:xfrm>
            <a:off x="6753225" y="5238739"/>
            <a:ext cx="1419225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B7C412D-EF5D-41B5-92E7-981826644353}"/>
              </a:ext>
            </a:extLst>
          </p:cNvPr>
          <p:cNvSpPr/>
          <p:nvPr/>
        </p:nvSpPr>
        <p:spPr>
          <a:xfrm>
            <a:off x="4657725" y="4681532"/>
            <a:ext cx="1885951" cy="11144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558C9A-A0AA-4B52-899C-5679B9E83F99}"/>
              </a:ext>
            </a:extLst>
          </p:cNvPr>
          <p:cNvSpPr/>
          <p:nvPr/>
        </p:nvSpPr>
        <p:spPr>
          <a:xfrm>
            <a:off x="8381999" y="4700583"/>
            <a:ext cx="1885951" cy="11144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64669-7BA1-45C2-81B4-DE3A52CF0998}"/>
              </a:ext>
            </a:extLst>
          </p:cNvPr>
          <p:cNvSpPr txBox="1"/>
          <p:nvPr/>
        </p:nvSpPr>
        <p:spPr>
          <a:xfrm>
            <a:off x="1114425" y="4834877"/>
            <a:ext cx="1590675" cy="84202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pt-PT" sz="2000" dirty="0" err="1">
                <a:solidFill>
                  <a:schemeClr val="tx1"/>
                </a:solidFill>
              </a:rPr>
              <a:t>Text</a:t>
            </a:r>
            <a:r>
              <a:rPr lang="pt-PT" sz="2000" dirty="0">
                <a:solidFill>
                  <a:schemeClr val="tx1"/>
                </a:solidFill>
              </a:rPr>
              <a:t> </a:t>
            </a:r>
            <a:r>
              <a:rPr lang="pt-PT" sz="2000" dirty="0" err="1">
                <a:solidFill>
                  <a:schemeClr val="tx1"/>
                </a:solidFill>
              </a:rPr>
              <a:t>Query</a:t>
            </a:r>
            <a:endParaRPr lang="pt-PT" sz="20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07363A-CD2C-4929-B643-7B1C88B7FF83}"/>
              </a:ext>
            </a:extLst>
          </p:cNvPr>
          <p:cNvSpPr txBox="1"/>
          <p:nvPr/>
        </p:nvSpPr>
        <p:spPr>
          <a:xfrm>
            <a:off x="4843462" y="5038684"/>
            <a:ext cx="15144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2000" dirty="0" err="1"/>
              <a:t>Tunix</a:t>
            </a:r>
            <a:endParaRPr lang="pt-PT" sz="18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074374-213B-4A5A-8C10-822B32F2792D}"/>
              </a:ext>
            </a:extLst>
          </p:cNvPr>
          <p:cNvSpPr txBox="1"/>
          <p:nvPr/>
        </p:nvSpPr>
        <p:spPr>
          <a:xfrm>
            <a:off x="8486774" y="5059937"/>
            <a:ext cx="1676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800" dirty="0" err="1"/>
              <a:t>Artist</a:t>
            </a:r>
            <a:r>
              <a:rPr lang="pt-PT" sz="1800" dirty="0"/>
              <a:t> / </a:t>
            </a:r>
            <a:r>
              <a:rPr lang="pt-PT" sz="1800" dirty="0" err="1"/>
              <a:t>Song</a:t>
            </a:r>
            <a:endParaRPr lang="pt-PT" sz="1800" dirty="0"/>
          </a:p>
          <a:p>
            <a:pPr algn="ctr"/>
            <a:endParaRPr lang="pt-PT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07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1C09C0E-4560-6624-9EE4-8DA955D4FBE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3"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C09C0E-4560-6624-9EE4-8DA955D4F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86609DE-22BB-15A4-13D1-28E5896D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91" y="258047"/>
            <a:ext cx="11000018" cy="888774"/>
          </a:xfrm>
        </p:spPr>
        <p:txBody>
          <a:bodyPr vert="horz"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ea typeface="+mn-ea"/>
                <a:cs typeface="+mn-cs"/>
              </a:rPr>
              <a:t>Data 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02131-D13B-26E9-3372-8B874CE2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C0AB8-4AF9-4E8B-9E03-E39E88D7668F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A15C950-2C06-4BA2-9C3C-7A865ABC0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08031"/>
              </p:ext>
            </p:extLst>
          </p:nvPr>
        </p:nvGraphicFramePr>
        <p:xfrm>
          <a:off x="595991" y="1293521"/>
          <a:ext cx="10872109" cy="4937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80366">
                  <a:extLst>
                    <a:ext uri="{9D8B030D-6E8A-4147-A177-3AD203B41FA5}">
                      <a16:colId xmlns:a16="http://schemas.microsoft.com/office/drawing/2014/main" val="1917053126"/>
                    </a:ext>
                  </a:extLst>
                </a:gridCol>
                <a:gridCol w="4546711">
                  <a:extLst>
                    <a:ext uri="{9D8B030D-6E8A-4147-A177-3AD203B41FA5}">
                      <a16:colId xmlns:a16="http://schemas.microsoft.com/office/drawing/2014/main" val="3012170124"/>
                    </a:ext>
                  </a:extLst>
                </a:gridCol>
                <a:gridCol w="2052165">
                  <a:extLst>
                    <a:ext uri="{9D8B030D-6E8A-4147-A177-3AD203B41FA5}">
                      <a16:colId xmlns:a16="http://schemas.microsoft.com/office/drawing/2014/main" val="2117655401"/>
                    </a:ext>
                  </a:extLst>
                </a:gridCol>
                <a:gridCol w="2692867">
                  <a:extLst>
                    <a:ext uri="{9D8B030D-6E8A-4147-A177-3AD203B41FA5}">
                      <a16:colId xmlns:a16="http://schemas.microsoft.com/office/drawing/2014/main" val="2079225138"/>
                    </a:ext>
                  </a:extLst>
                </a:gridCol>
              </a:tblGrid>
              <a:tr h="268964"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/>
                        <a:t>Dataset</a:t>
                      </a:r>
                      <a:endParaRPr lang="pt-PT" sz="1200" dirty="0"/>
                    </a:p>
                  </a:txBody>
                  <a:tcPr>
                    <a:solidFill>
                      <a:srgbClr val="8C2D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/>
                        <a:t>Attributes</a:t>
                      </a:r>
                      <a:endParaRPr lang="pt-PT" sz="1200" dirty="0"/>
                    </a:p>
                  </a:txBody>
                  <a:tcPr>
                    <a:solidFill>
                      <a:srgbClr val="8C2D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Pros</a:t>
                      </a:r>
                    </a:p>
                  </a:txBody>
                  <a:tcPr>
                    <a:solidFill>
                      <a:srgbClr val="8C2D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/>
                        <a:t>Cons</a:t>
                      </a:r>
                      <a:endParaRPr lang="pt-PT" sz="1200" dirty="0"/>
                    </a:p>
                  </a:txBody>
                  <a:tcPr>
                    <a:solidFill>
                      <a:srgbClr val="8C2D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226646"/>
                  </a:ext>
                </a:extLst>
              </a:tr>
              <a:tr h="870841"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Audio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features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lyrics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of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Spotify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songs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track_id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track_name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track_artist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lyrics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track_popularity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track_album_id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track_album_name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track_album_release_date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playlist_name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playlist_id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playlist_genre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playlist_subgenre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danceability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energy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key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loudness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mode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speechiness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instrumentalness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liveness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valence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tempo,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duration_ms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language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A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lot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of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information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about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songs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many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different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tracks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Some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songs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don’t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have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lyrics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number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of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songs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per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artist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is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a bit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limited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. Too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many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non-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essential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attributes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138920"/>
                  </a:ext>
                </a:extLst>
              </a:tr>
              <a:tr h="818571"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Spotify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Million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Song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Dataset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song_name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artist_name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link,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lyrics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Good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balance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of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attributes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consistent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number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of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songs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per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artist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overall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a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well-sized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dataset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Some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inconsistencies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in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how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values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are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obtained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—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states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data comes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from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Spotify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API,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but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song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links are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from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a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lyrics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website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546932"/>
                  </a:ext>
                </a:extLst>
              </a:tr>
              <a:tr h="944505"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Song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Lyrics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Dataset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Artist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Title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Album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Date,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Lyric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Well-structured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by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artist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;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good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complementary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dataset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to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enrich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main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dataset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with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lyrics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information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Some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songs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do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not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have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lyrics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marked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consistently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with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string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"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lyrics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for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this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song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have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yet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to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released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please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check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back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once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song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has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been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released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");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easy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to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detect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filter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178719"/>
                  </a:ext>
                </a:extLst>
              </a:tr>
              <a:tr h="1064317"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Lyrics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Metadata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from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1950 to 2019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artist_name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track_name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release_date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genre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lyrics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len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dating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violence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world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life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night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/time,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shake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the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audience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family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/gospel,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romantic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communication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obscene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music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movement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places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light/visual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perceptions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family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spiritual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like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girls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sadness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feelings,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danceability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loudness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acousticness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instrumentalness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valence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energy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topic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age 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Very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rich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dataset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with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a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large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number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of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songs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detailed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metadata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May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have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too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many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artists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with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only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a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few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songs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each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includes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many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non-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essential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attributes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542209"/>
                  </a:ext>
                </a:extLst>
              </a:tr>
              <a:tr h="566703"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Artists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artist_name,artist_mbid,biography,top_10_similar_mbids,dbpedia_uri 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Very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rich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dataset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with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a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large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number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of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artists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detailed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metadata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Its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not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a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raw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dataSet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its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a set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of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files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that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need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to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conected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can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harder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to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effectLst/>
                        </a:rPr>
                        <a:t>work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effectLst/>
                        </a:rPr>
                        <a:t>  </a:t>
                      </a:r>
                      <a:endParaRPr lang="pt-PT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892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51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1C09C0E-4560-6624-9EE4-8DA955D4FBE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2"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C09C0E-4560-6624-9EE4-8DA955D4F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86609DE-22BB-15A4-13D1-28E5896D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91" y="258047"/>
            <a:ext cx="11000018" cy="888774"/>
          </a:xfrm>
        </p:spPr>
        <p:txBody>
          <a:bodyPr vert="horz"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ea typeface="+mn-ea"/>
                <a:cs typeface="+mn-cs"/>
              </a:rPr>
              <a:t>Exploratory Data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02131-D13B-26E9-3372-8B874CE2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C0AB8-4AF9-4E8B-9E03-E39E88D7668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D4DE9785-3A35-4F01-86D1-1442EACAD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1392521"/>
            <a:ext cx="460499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Attributes</a:t>
            </a:r>
            <a:r>
              <a:rPr kumimoji="0" lang="pt-PT" altLang="pt-P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pt-PT" altLang="pt-PT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artist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Artist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name</a:t>
            </a:r>
            <a:endParaRPr kumimoji="0" lang="pt-PT" altLang="pt-P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song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Song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title</a:t>
            </a:r>
            <a:endParaRPr kumimoji="0" lang="pt-PT" altLang="pt-P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link →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Unique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song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identifier</a:t>
            </a:r>
            <a:endParaRPr kumimoji="0" lang="pt-PT" altLang="pt-P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Lyrics</a:t>
            </a:r>
            <a:endParaRPr lang="pt-PT" altLang="pt-PT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PT" altLang="pt-P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PT" altLang="pt-PT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PT" altLang="pt-P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3B68EE-DB85-4C5A-91A0-1FB2BEDBE198}"/>
              </a:ext>
            </a:extLst>
          </p:cNvPr>
          <p:cNvSpPr txBox="1"/>
          <p:nvPr/>
        </p:nvSpPr>
        <p:spPr>
          <a:xfrm>
            <a:off x="6172200" y="1396152"/>
            <a:ext cx="436737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Link </a:t>
            </a:r>
            <a:r>
              <a:rPr kumimoji="0" lang="pt-PT" altLang="pt-PT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Structure</a:t>
            </a:r>
            <a:r>
              <a:rPr kumimoji="0" lang="pt-PT" altLang="pt-P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Each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link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points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a </a:t>
            </a:r>
            <a:r>
              <a:rPr kumimoji="0" lang="pt-PT" altLang="pt-PT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unique</a:t>
            </a:r>
            <a:r>
              <a:rPr kumimoji="0" lang="pt-PT" altLang="pt-P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song</a:t>
            </a:r>
            <a:r>
              <a:rPr kumimoji="0" lang="pt-PT" altLang="pt-P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page</a:t>
            </a:r>
            <a:endParaRPr kumimoji="0" lang="pt-PT" altLang="pt-P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URL encodes </a:t>
            </a:r>
            <a:r>
              <a:rPr kumimoji="0" lang="pt-PT" altLang="pt-PT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artist</a:t>
            </a:r>
            <a:r>
              <a:rPr kumimoji="0" lang="pt-PT" altLang="pt-P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name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song</a:t>
            </a:r>
            <a:r>
              <a:rPr kumimoji="0" lang="pt-PT" altLang="pt-P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title</a:t>
            </a:r>
            <a:endParaRPr kumimoji="0" lang="pt-PT" altLang="pt-P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End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number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unique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song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PT" altLang="pt-PT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PT" altLang="pt-P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PT" altLang="pt-P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E69BB5-0068-4F5F-A1AE-9805581078E9}"/>
              </a:ext>
            </a:extLst>
          </p:cNvPr>
          <p:cNvCxnSpPr>
            <a:cxnSpLocks/>
          </p:cNvCxnSpPr>
          <p:nvPr/>
        </p:nvCxnSpPr>
        <p:spPr>
          <a:xfrm>
            <a:off x="6096000" y="1460956"/>
            <a:ext cx="0" cy="4711244"/>
          </a:xfrm>
          <a:prstGeom prst="line">
            <a:avLst/>
          </a:prstGeom>
          <a:ln w="9525" cap="flat" cmpd="sng" algn="ctr">
            <a:solidFill>
              <a:srgbClr val="8C2D1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F0D91B-9F99-43E3-A45C-8BA39FC59471}"/>
              </a:ext>
            </a:extLst>
          </p:cNvPr>
          <p:cNvCxnSpPr>
            <a:cxnSpLocks/>
          </p:cNvCxnSpPr>
          <p:nvPr/>
        </p:nvCxnSpPr>
        <p:spPr>
          <a:xfrm>
            <a:off x="647700" y="3429000"/>
            <a:ext cx="10915650" cy="0"/>
          </a:xfrm>
          <a:prstGeom prst="line">
            <a:avLst/>
          </a:prstGeom>
          <a:ln w="9525" cap="flat" cmpd="sng" algn="ctr">
            <a:solidFill>
              <a:srgbClr val="8C2D1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EC3BA1D-6566-4A1E-BC2B-0FE9E11CD312}"/>
              </a:ext>
            </a:extLst>
          </p:cNvPr>
          <p:cNvSpPr txBox="1"/>
          <p:nvPr/>
        </p:nvSpPr>
        <p:spPr>
          <a:xfrm>
            <a:off x="652298" y="3677216"/>
            <a:ext cx="60960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Lyrics</a:t>
            </a:r>
            <a:r>
              <a:rPr kumimoji="0" lang="pt-PT" altLang="pt-P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Structure</a:t>
            </a:r>
            <a:r>
              <a:rPr kumimoji="0" lang="pt-PT" altLang="pt-P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pt-PT" altLang="pt-PT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Lyrics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split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verses/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paragraphs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lang="pt-PT" altLang="pt-PT" sz="1600" dirty="0"/>
              <a:t>\r\n)</a:t>
            </a:r>
            <a:endParaRPr kumimoji="0" lang="pt-PT" altLang="pt-P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Repeated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lines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choruses/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refrains</a:t>
            </a:r>
            <a:endParaRPr kumimoji="0" lang="pt-PT" altLang="pt-P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Variable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length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may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include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[Chorus]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musical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instructions</a:t>
            </a:r>
            <a:endParaRPr kumimoji="0" lang="pt-PT" altLang="pt-P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Keywords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indicate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themes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(e.g., “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love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”, “Christmas”)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Formatting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may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vary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spaces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capitalization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Same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lyrics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can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appear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different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artists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(covers)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95A56C-ACAB-4389-9757-A5D523B0CE95}"/>
              </a:ext>
            </a:extLst>
          </p:cNvPr>
          <p:cNvSpPr txBox="1"/>
          <p:nvPr/>
        </p:nvSpPr>
        <p:spPr>
          <a:xfrm>
            <a:off x="6172200" y="3677216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Unique</a:t>
            </a:r>
            <a:r>
              <a:rPr kumimoji="0" lang="pt-PT" altLang="pt-P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Values</a:t>
            </a:r>
            <a:r>
              <a:rPr kumimoji="0" lang="pt-PT" altLang="pt-P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89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songs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artist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average</a:t>
            </a:r>
            <a:endParaRPr kumimoji="0" lang="pt-PT" altLang="pt-P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Many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songs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share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same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title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different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versions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artists</a:t>
            </a:r>
            <a:endParaRPr kumimoji="0" lang="pt-PT" altLang="pt-P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Some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lyrics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repeated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across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artists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same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song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PT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different</a:t>
            </a:r>
            <a:r>
              <a:rPr kumimoji="0" lang="pt-PT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performer</a:t>
            </a:r>
          </a:p>
        </p:txBody>
      </p:sp>
    </p:spTree>
    <p:extLst>
      <p:ext uri="{BB962C8B-B14F-4D97-AF65-F5344CB8AC3E}">
        <p14:creationId xmlns:p14="http://schemas.microsoft.com/office/powerpoint/2010/main" val="3534972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1C09C0E-4560-6624-9EE4-8DA955D4FBE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1"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C09C0E-4560-6624-9EE4-8DA955D4F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86609DE-22BB-15A4-13D1-28E5896D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91" y="258047"/>
            <a:ext cx="11000018" cy="888774"/>
          </a:xfrm>
        </p:spPr>
        <p:txBody>
          <a:bodyPr vert="horz"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ea typeface="+mn-ea"/>
                <a:cs typeface="+mn-cs"/>
              </a:rPr>
              <a:t>Exploratory Data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02131-D13B-26E9-3372-8B874CE2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C0AB8-4AF9-4E8B-9E03-E39E88D7668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D2DCF1-E572-4A9F-B98C-D01D70FCB2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5784" y="1271617"/>
            <a:ext cx="9800432" cy="486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22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1C09C0E-4560-6624-9EE4-8DA955D4FBE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6" name="think-cell Slide" r:id="rId5" imgW="473" imgH="473" progId="TCLayout.ActiveDocument.1">
                  <p:embed/>
                </p:oleObj>
              </mc:Choice>
              <mc:Fallback>
                <p:oleObj name="think-cell Slide" r:id="rId5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C09C0E-4560-6624-9EE4-8DA955D4F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86609DE-22BB-15A4-13D1-28E5896D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91" y="258047"/>
            <a:ext cx="11000018" cy="888774"/>
          </a:xfrm>
        </p:spPr>
        <p:txBody>
          <a:bodyPr vert="horz">
            <a:normAutofit fontScale="9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pt-PT" sz="4800" b="0" i="0" u="none" strike="noStrike" dirty="0">
                <a:effectLst/>
              </a:rPr>
            </a:br>
            <a:r>
              <a:rPr lang="en-US" sz="4400" dirty="0"/>
              <a:t> Data Processing Pipeline</a:t>
            </a:r>
            <a:br>
              <a:rPr lang="pt-PT" sz="1600" b="0" dirty="0">
                <a:effectLst/>
              </a:rPr>
            </a:br>
            <a:br>
              <a:rPr lang="pt-PT" sz="1600" dirty="0"/>
            </a:br>
            <a:endParaRPr lang="en-US" sz="4400" dirty="0"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02131-D13B-26E9-3372-8B874CE2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C0AB8-4AF9-4E8B-9E03-E39E88D7668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D4DE9785-3A35-4F01-86D1-1442EACAD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2100407"/>
            <a:ext cx="4604990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PT" altLang="pt-P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PT" altLang="pt-PT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PT" altLang="pt-P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3B68EE-DB85-4C5A-91A0-1FB2BEDBE198}"/>
              </a:ext>
            </a:extLst>
          </p:cNvPr>
          <p:cNvSpPr txBox="1"/>
          <p:nvPr/>
        </p:nvSpPr>
        <p:spPr>
          <a:xfrm>
            <a:off x="6143625" y="1389897"/>
            <a:ext cx="436737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PT" altLang="pt-PT" sz="1400" dirty="0"/>
              <a:t>      </a:t>
            </a:r>
            <a:r>
              <a:rPr lang="pt-PT" altLang="pt-PT" b="1" dirty="0" err="1"/>
              <a:t>Main</a:t>
            </a:r>
            <a:r>
              <a:rPr lang="pt-PT" altLang="pt-PT" b="1" dirty="0"/>
              <a:t> Steps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pt-PT" altLang="pt-PT" b="1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pt-PT" sz="1200" dirty="0"/>
              <a:t>Normalize</a:t>
            </a:r>
            <a:r>
              <a:rPr lang="pt-PT" altLang="pt-PT" sz="1200" dirty="0"/>
              <a:t> Input </a:t>
            </a:r>
            <a:r>
              <a:rPr lang="pt-PT" altLang="pt-PT" sz="1200" dirty="0" err="1"/>
              <a:t>Rows</a:t>
            </a:r>
            <a:r>
              <a:rPr lang="pt-PT" altLang="pt-PT" sz="1200" dirty="0"/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PT" sz="1200" dirty="0"/>
              <a:t> </a:t>
            </a:r>
            <a:r>
              <a:rPr lang="pt-PT" altLang="pt-PT" sz="1200" dirty="0" err="1"/>
              <a:t>Extract</a:t>
            </a:r>
            <a:r>
              <a:rPr lang="pt-PT" altLang="pt-PT" sz="1200" dirty="0"/>
              <a:t> </a:t>
            </a:r>
            <a:r>
              <a:rPr lang="pt-PT" altLang="pt-PT" sz="1200" dirty="0" err="1"/>
              <a:t>clean</a:t>
            </a:r>
            <a:r>
              <a:rPr lang="pt-PT" altLang="pt-PT" sz="1200" dirty="0"/>
              <a:t> (</a:t>
            </a:r>
            <a:r>
              <a:rPr lang="pt-PT" altLang="pt-PT" sz="1200" dirty="0" err="1"/>
              <a:t>song</a:t>
            </a:r>
            <a:r>
              <a:rPr lang="pt-PT" altLang="pt-PT" sz="1200" dirty="0"/>
              <a:t>, </a:t>
            </a:r>
            <a:r>
              <a:rPr lang="pt-PT" altLang="pt-PT" sz="1200" dirty="0" err="1"/>
              <a:t>artist</a:t>
            </a:r>
            <a:r>
              <a:rPr lang="pt-PT" altLang="pt-PT" sz="1200" dirty="0"/>
              <a:t>) </a:t>
            </a:r>
            <a:r>
              <a:rPr lang="pt-PT" altLang="pt-PT" sz="1200" dirty="0" err="1"/>
              <a:t>pairs</a:t>
            </a:r>
            <a:endParaRPr lang="pt-PT" altLang="pt-PT" sz="1200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PT" sz="1200" dirty="0" err="1"/>
              <a:t>Standardize</a:t>
            </a:r>
            <a:r>
              <a:rPr lang="pt-PT" altLang="pt-PT" sz="1200" dirty="0"/>
              <a:t> </a:t>
            </a:r>
            <a:r>
              <a:rPr lang="pt-PT" altLang="pt-PT" sz="1200" dirty="0" err="1"/>
              <a:t>capitalization</a:t>
            </a:r>
            <a:r>
              <a:rPr lang="pt-PT" altLang="pt-PT" sz="1200" dirty="0"/>
              <a:t> </a:t>
            </a:r>
            <a:r>
              <a:rPr lang="pt-PT" altLang="pt-PT" sz="1200" dirty="0" err="1"/>
              <a:t>and</a:t>
            </a:r>
            <a:r>
              <a:rPr lang="pt-PT" altLang="pt-PT" sz="1200" dirty="0"/>
              <a:t> </a:t>
            </a:r>
            <a:r>
              <a:rPr lang="pt-PT" altLang="pt-PT" sz="1200" dirty="0" err="1"/>
              <a:t>spacing</a:t>
            </a:r>
            <a:endParaRPr lang="pt-PT" altLang="pt-PT" sz="12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pt-PT" altLang="pt-PT" sz="12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pt-PT" altLang="pt-PT" sz="1200" dirty="0" err="1"/>
              <a:t>Track</a:t>
            </a:r>
            <a:r>
              <a:rPr lang="pt-PT" altLang="pt-PT" sz="1200" dirty="0"/>
              <a:t> </a:t>
            </a:r>
            <a:r>
              <a:rPr lang="pt-PT" altLang="pt-PT" sz="1200" dirty="0" err="1"/>
              <a:t>SearchAPI</a:t>
            </a:r>
            <a:r>
              <a:rPr lang="pt-PT" altLang="pt-PT" sz="1200" dirty="0"/>
              <a:t> </a:t>
            </a:r>
            <a:r>
              <a:rPr lang="pt-PT" altLang="pt-PT" sz="1200" dirty="0" err="1"/>
              <a:t>Method</a:t>
            </a:r>
            <a:r>
              <a:rPr lang="pt-PT" altLang="pt-PT" sz="1200" dirty="0"/>
              <a:t>: </a:t>
            </a:r>
            <a:r>
              <a:rPr lang="pt-PT" altLang="pt-PT" sz="1200" dirty="0" err="1"/>
              <a:t>track.search</a:t>
            </a:r>
            <a:endParaRPr lang="pt-PT" altLang="pt-PT" sz="1200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PT" sz="1200" dirty="0" err="1"/>
              <a:t>Retrieves</a:t>
            </a:r>
            <a:r>
              <a:rPr lang="pt-PT" altLang="pt-PT" sz="1200" dirty="0"/>
              <a:t>→ </a:t>
            </a:r>
            <a:r>
              <a:rPr lang="pt-PT" altLang="pt-PT" sz="1200" dirty="0" err="1"/>
              <a:t>track_mbid</a:t>
            </a:r>
            <a:r>
              <a:rPr lang="pt-PT" altLang="pt-PT" sz="1200" dirty="0"/>
              <a:t>, </a:t>
            </a:r>
            <a:r>
              <a:rPr lang="pt-PT" altLang="pt-PT" sz="1200" dirty="0" err="1"/>
              <a:t>artist_mbid</a:t>
            </a:r>
            <a:r>
              <a:rPr lang="pt-PT" altLang="pt-PT" sz="1200" dirty="0"/>
              <a:t>, </a:t>
            </a:r>
            <a:r>
              <a:rPr lang="pt-PT" altLang="pt-PT" sz="1200" dirty="0" err="1"/>
              <a:t>track_name</a:t>
            </a:r>
            <a:r>
              <a:rPr lang="pt-PT" altLang="pt-PT" sz="1200" dirty="0"/>
              <a:t>, </a:t>
            </a:r>
            <a:r>
              <a:rPr lang="pt-PT" altLang="pt-PT" sz="1200" dirty="0" err="1"/>
              <a:t>artist_name</a:t>
            </a:r>
            <a:endParaRPr lang="pt-PT" altLang="pt-PT" sz="1200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PT" sz="1200" dirty="0"/>
              <a:t> </a:t>
            </a:r>
            <a:r>
              <a:rPr lang="pt-PT" altLang="pt-PT" sz="1200" dirty="0" err="1"/>
              <a:t>Used</a:t>
            </a:r>
            <a:r>
              <a:rPr lang="pt-PT" altLang="pt-PT" sz="1200" dirty="0"/>
              <a:t> to </a:t>
            </a:r>
            <a:r>
              <a:rPr lang="pt-PT" altLang="pt-PT" sz="1200" dirty="0" err="1"/>
              <a:t>identify</a:t>
            </a:r>
            <a:r>
              <a:rPr lang="pt-PT" altLang="pt-PT" sz="1200" dirty="0"/>
              <a:t> </a:t>
            </a:r>
            <a:r>
              <a:rPr lang="pt-PT" altLang="pt-PT" sz="1200" dirty="0" err="1"/>
              <a:t>the</a:t>
            </a:r>
            <a:r>
              <a:rPr lang="pt-PT" altLang="pt-PT" sz="1200" dirty="0"/>
              <a:t> </a:t>
            </a:r>
            <a:r>
              <a:rPr lang="pt-PT" altLang="pt-PT" sz="1200" dirty="0" err="1"/>
              <a:t>most</a:t>
            </a:r>
            <a:r>
              <a:rPr lang="pt-PT" altLang="pt-PT" sz="1200" dirty="0"/>
              <a:t> </a:t>
            </a:r>
            <a:r>
              <a:rPr lang="pt-PT" altLang="pt-PT" sz="1200" dirty="0" err="1"/>
              <a:t>accurate</a:t>
            </a:r>
            <a:r>
              <a:rPr lang="pt-PT" altLang="pt-PT" sz="1200" dirty="0"/>
              <a:t> match for </a:t>
            </a:r>
            <a:r>
              <a:rPr lang="pt-PT" altLang="pt-PT" sz="1200" dirty="0" err="1"/>
              <a:t>each</a:t>
            </a:r>
            <a:r>
              <a:rPr lang="pt-PT" altLang="pt-PT" sz="1200" dirty="0"/>
              <a:t> </a:t>
            </a:r>
            <a:r>
              <a:rPr lang="pt-PT" altLang="pt-PT" sz="1200" dirty="0" err="1"/>
              <a:t>song-artist</a:t>
            </a:r>
            <a:r>
              <a:rPr lang="pt-PT" altLang="pt-PT" sz="1200" dirty="0"/>
              <a:t> </a:t>
            </a:r>
            <a:r>
              <a:rPr lang="pt-PT" altLang="pt-PT" sz="1200" dirty="0" err="1"/>
              <a:t>pair</a:t>
            </a:r>
            <a:r>
              <a:rPr lang="pt-PT" altLang="pt-PT" sz="1200" dirty="0"/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pt-PT" altLang="pt-PT" sz="12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pt-PT" altLang="pt-PT" sz="1200" dirty="0"/>
              <a:t> </a:t>
            </a:r>
            <a:r>
              <a:rPr lang="pt-PT" altLang="pt-PT" sz="1200" dirty="0" err="1"/>
              <a:t>Artist</a:t>
            </a:r>
            <a:r>
              <a:rPr lang="pt-PT" altLang="pt-PT" sz="1200" dirty="0"/>
              <a:t> </a:t>
            </a:r>
            <a:r>
              <a:rPr lang="pt-PT" altLang="pt-PT" sz="1200" dirty="0" err="1"/>
              <a:t>MetadataAPI</a:t>
            </a:r>
            <a:r>
              <a:rPr lang="pt-PT" altLang="pt-PT" sz="1200" dirty="0"/>
              <a:t> </a:t>
            </a:r>
            <a:r>
              <a:rPr lang="pt-PT" altLang="pt-PT" sz="1200" dirty="0" err="1"/>
              <a:t>Method</a:t>
            </a:r>
            <a:r>
              <a:rPr lang="pt-PT" altLang="pt-PT" sz="1200" dirty="0"/>
              <a:t>: </a:t>
            </a:r>
            <a:r>
              <a:rPr lang="pt-PT" altLang="pt-PT" sz="1200" dirty="0" err="1"/>
              <a:t>artist.getInfo</a:t>
            </a:r>
            <a:endParaRPr lang="pt-PT" altLang="pt-PT" sz="1200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PT" sz="1200" dirty="0"/>
              <a:t> </a:t>
            </a:r>
            <a:r>
              <a:rPr lang="pt-PT" altLang="pt-PT" sz="1200" dirty="0" err="1"/>
              <a:t>Extracts</a:t>
            </a:r>
            <a:r>
              <a:rPr lang="pt-PT" altLang="pt-PT" sz="1200" dirty="0"/>
              <a:t>→ </a:t>
            </a:r>
            <a:r>
              <a:rPr lang="pt-PT" altLang="pt-PT" sz="1200" dirty="0" err="1"/>
              <a:t>bio.content</a:t>
            </a:r>
            <a:r>
              <a:rPr lang="pt-PT" altLang="pt-PT" sz="1200" dirty="0"/>
              <a:t> / </a:t>
            </a:r>
            <a:r>
              <a:rPr lang="pt-PT" altLang="pt-PT" sz="1200" dirty="0" err="1"/>
              <a:t>bio.summary</a:t>
            </a:r>
            <a:r>
              <a:rPr lang="pt-PT" altLang="pt-PT" sz="1200" dirty="0"/>
              <a:t>, </a:t>
            </a:r>
            <a:r>
              <a:rPr lang="pt-PT" altLang="pt-PT" sz="1200" dirty="0" err="1"/>
              <a:t>name</a:t>
            </a:r>
            <a:endParaRPr lang="pt-PT" altLang="pt-PT" sz="1200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PT" sz="1200" dirty="0"/>
              <a:t> </a:t>
            </a:r>
            <a:r>
              <a:rPr lang="pt-PT" altLang="pt-PT" sz="1200" dirty="0" err="1"/>
              <a:t>Cleans</a:t>
            </a:r>
            <a:r>
              <a:rPr lang="pt-PT" altLang="pt-PT" sz="1200" dirty="0"/>
              <a:t> HTML </a:t>
            </a:r>
            <a:r>
              <a:rPr lang="pt-PT" altLang="pt-PT" sz="1200" dirty="0" err="1"/>
              <a:t>and</a:t>
            </a:r>
            <a:r>
              <a:rPr lang="pt-PT" altLang="pt-PT" sz="1200" dirty="0"/>
              <a:t> removes </a:t>
            </a:r>
            <a:r>
              <a:rPr lang="pt-PT" altLang="pt-PT" sz="1200" dirty="0" err="1"/>
              <a:t>boilerplate</a:t>
            </a:r>
            <a:r>
              <a:rPr lang="pt-PT" altLang="pt-PT" sz="1200" dirty="0"/>
              <a:t> </a:t>
            </a:r>
            <a:r>
              <a:rPr lang="pt-PT" altLang="pt-PT" sz="1200" dirty="0" err="1"/>
              <a:t>text</a:t>
            </a:r>
            <a:endParaRPr lang="pt-PT" altLang="pt-PT" sz="1200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PT" sz="1200" dirty="0"/>
              <a:t> </a:t>
            </a:r>
            <a:r>
              <a:rPr lang="pt-PT" altLang="pt-PT" sz="1200" dirty="0" err="1"/>
              <a:t>Provides</a:t>
            </a:r>
            <a:r>
              <a:rPr lang="pt-PT" altLang="pt-PT" sz="1200" dirty="0"/>
              <a:t> background </a:t>
            </a:r>
            <a:r>
              <a:rPr lang="pt-PT" altLang="pt-PT" sz="1200" dirty="0" err="1"/>
              <a:t>and</a:t>
            </a:r>
            <a:r>
              <a:rPr lang="pt-PT" altLang="pt-PT" sz="1200" dirty="0"/>
              <a:t> </a:t>
            </a:r>
            <a:r>
              <a:rPr lang="pt-PT" altLang="pt-PT" sz="1200" dirty="0" err="1"/>
              <a:t>descriptive</a:t>
            </a:r>
            <a:r>
              <a:rPr lang="pt-PT" altLang="pt-PT" sz="1200" dirty="0"/>
              <a:t> </a:t>
            </a:r>
            <a:r>
              <a:rPr lang="pt-PT" altLang="pt-PT" sz="1200" dirty="0" err="1"/>
              <a:t>details</a:t>
            </a:r>
            <a:r>
              <a:rPr lang="pt-PT" altLang="pt-PT" sz="1200" dirty="0"/>
              <a:t> </a:t>
            </a:r>
            <a:r>
              <a:rPr lang="pt-PT" altLang="pt-PT" sz="1200" dirty="0" err="1"/>
              <a:t>about</a:t>
            </a:r>
            <a:r>
              <a:rPr lang="pt-PT" altLang="pt-PT" sz="1200" dirty="0"/>
              <a:t> </a:t>
            </a:r>
            <a:r>
              <a:rPr lang="pt-PT" altLang="pt-PT" sz="1200" dirty="0" err="1"/>
              <a:t>the</a:t>
            </a:r>
            <a:r>
              <a:rPr lang="pt-PT" altLang="pt-PT" sz="1200" dirty="0"/>
              <a:t> </a:t>
            </a:r>
            <a:r>
              <a:rPr lang="pt-PT" altLang="pt-PT" sz="1200" dirty="0" err="1"/>
              <a:t>artist</a:t>
            </a:r>
            <a:r>
              <a:rPr lang="pt-PT" altLang="pt-PT" sz="1200" dirty="0"/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pt-PT" altLang="pt-PT" sz="12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pt-PT" altLang="pt-PT" sz="1200" dirty="0" err="1"/>
              <a:t>Track</a:t>
            </a:r>
            <a:r>
              <a:rPr lang="pt-PT" altLang="pt-PT" sz="1200" dirty="0"/>
              <a:t> </a:t>
            </a:r>
            <a:r>
              <a:rPr lang="pt-PT" altLang="pt-PT" sz="1200" dirty="0" err="1"/>
              <a:t>MetadataAPI</a:t>
            </a:r>
            <a:r>
              <a:rPr lang="pt-PT" altLang="pt-PT" sz="1200" dirty="0"/>
              <a:t> </a:t>
            </a:r>
            <a:r>
              <a:rPr lang="pt-PT" altLang="pt-PT" sz="1200" dirty="0" err="1"/>
              <a:t>Method</a:t>
            </a:r>
            <a:r>
              <a:rPr lang="pt-PT" altLang="pt-PT" sz="1200" dirty="0"/>
              <a:t>: </a:t>
            </a:r>
            <a:r>
              <a:rPr lang="pt-PT" altLang="pt-PT" sz="1200" dirty="0" err="1"/>
              <a:t>track.getInfo</a:t>
            </a:r>
            <a:endParaRPr lang="pt-PT" altLang="pt-PT" sz="1200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PT" sz="1200" dirty="0"/>
              <a:t> </a:t>
            </a:r>
            <a:r>
              <a:rPr lang="pt-PT" altLang="pt-PT" sz="1200" dirty="0" err="1"/>
              <a:t>Extracts</a:t>
            </a:r>
            <a:r>
              <a:rPr lang="pt-PT" altLang="pt-PT" sz="1200" dirty="0"/>
              <a:t>→ </a:t>
            </a:r>
            <a:r>
              <a:rPr lang="pt-PT" altLang="pt-PT" sz="1200" dirty="0" err="1"/>
              <a:t>wiki.content</a:t>
            </a:r>
            <a:r>
              <a:rPr lang="pt-PT" altLang="pt-PT" sz="1200" dirty="0"/>
              <a:t> / </a:t>
            </a:r>
            <a:r>
              <a:rPr lang="pt-PT" altLang="pt-PT" sz="1200" dirty="0" err="1"/>
              <a:t>summary</a:t>
            </a:r>
            <a:r>
              <a:rPr lang="pt-PT" altLang="pt-PT" sz="1200" dirty="0"/>
              <a:t> (</a:t>
            </a:r>
            <a:r>
              <a:rPr lang="pt-PT" altLang="pt-PT" sz="1200" dirty="0" err="1"/>
              <a:t>track</a:t>
            </a:r>
            <a:r>
              <a:rPr lang="pt-PT" altLang="pt-PT" sz="1200" dirty="0"/>
              <a:t> </a:t>
            </a:r>
            <a:r>
              <a:rPr lang="pt-PT" altLang="pt-PT" sz="1200" dirty="0" err="1"/>
              <a:t>description</a:t>
            </a:r>
            <a:r>
              <a:rPr lang="pt-PT" altLang="pt-PT" sz="1200" dirty="0"/>
              <a:t>)→ </a:t>
            </a:r>
            <a:r>
              <a:rPr lang="pt-PT" altLang="pt-PT" sz="1200" dirty="0" err="1"/>
              <a:t>wiki.published</a:t>
            </a:r>
            <a:r>
              <a:rPr lang="pt-PT" altLang="pt-PT" sz="1200" dirty="0"/>
              <a:t> (</a:t>
            </a:r>
            <a:r>
              <a:rPr lang="pt-PT" altLang="pt-PT" sz="1200" dirty="0" err="1"/>
              <a:t>release</a:t>
            </a:r>
            <a:r>
              <a:rPr lang="pt-PT" altLang="pt-PT" sz="1200" dirty="0"/>
              <a:t> date)→ </a:t>
            </a:r>
            <a:r>
              <a:rPr lang="pt-PT" altLang="pt-PT" sz="1200" dirty="0" err="1"/>
              <a:t>album.title</a:t>
            </a:r>
            <a:r>
              <a:rPr lang="pt-PT" altLang="pt-PT" sz="1200" dirty="0"/>
              <a:t>, </a:t>
            </a:r>
            <a:r>
              <a:rPr lang="pt-PT" altLang="pt-PT" sz="1200" dirty="0" err="1"/>
              <a:t>album.mbid</a:t>
            </a:r>
            <a:endParaRPr lang="pt-PT" altLang="pt-PT" sz="1200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PT" sz="1200" dirty="0"/>
              <a:t> </a:t>
            </a:r>
            <a:r>
              <a:rPr lang="pt-PT" altLang="pt-PT" sz="1200" dirty="0" err="1"/>
              <a:t>Adds</a:t>
            </a:r>
            <a:r>
              <a:rPr lang="pt-PT" altLang="pt-PT" sz="1200" dirty="0"/>
              <a:t> contextual </a:t>
            </a:r>
            <a:r>
              <a:rPr lang="pt-PT" altLang="pt-PT" sz="1200" dirty="0" err="1"/>
              <a:t>metadata</a:t>
            </a:r>
            <a:r>
              <a:rPr lang="pt-PT" altLang="pt-PT" sz="1200" dirty="0"/>
              <a:t> </a:t>
            </a:r>
            <a:r>
              <a:rPr lang="pt-PT" altLang="pt-PT" sz="1200" dirty="0" err="1"/>
              <a:t>such</a:t>
            </a:r>
            <a:r>
              <a:rPr lang="pt-PT" altLang="pt-PT" sz="1200" dirty="0"/>
              <a:t> as </a:t>
            </a:r>
            <a:r>
              <a:rPr lang="pt-PT" altLang="pt-PT" sz="1200" dirty="0" err="1"/>
              <a:t>album</a:t>
            </a:r>
            <a:r>
              <a:rPr lang="pt-PT" altLang="pt-PT" sz="1200" dirty="0"/>
              <a:t> </a:t>
            </a:r>
            <a:r>
              <a:rPr lang="pt-PT" altLang="pt-PT" sz="1200" dirty="0" err="1"/>
              <a:t>title</a:t>
            </a:r>
            <a:r>
              <a:rPr lang="pt-PT" altLang="pt-PT" sz="1200" dirty="0"/>
              <a:t> </a:t>
            </a:r>
            <a:r>
              <a:rPr lang="pt-PT" altLang="pt-PT" sz="1200" dirty="0" err="1"/>
              <a:t>and</a:t>
            </a:r>
            <a:r>
              <a:rPr lang="pt-PT" altLang="pt-PT" sz="1200" dirty="0"/>
              <a:t> </a:t>
            </a:r>
            <a:r>
              <a:rPr lang="pt-PT" altLang="pt-PT" sz="1200" dirty="0" err="1"/>
              <a:t>release</a:t>
            </a:r>
            <a:r>
              <a:rPr lang="pt-PT" altLang="pt-PT" sz="1200" dirty="0"/>
              <a:t> </a:t>
            </a:r>
            <a:r>
              <a:rPr lang="pt-PT" altLang="pt-PT" sz="1200" dirty="0" err="1"/>
              <a:t>info</a:t>
            </a:r>
            <a:r>
              <a:rPr lang="pt-PT" altLang="pt-PT" sz="1200" dirty="0"/>
              <a:t>.</a:t>
            </a:r>
            <a:endParaRPr kumimoji="0" lang="pt-PT" altLang="pt-PT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E69BB5-0068-4F5F-A1AE-9805581078E9}"/>
              </a:ext>
            </a:extLst>
          </p:cNvPr>
          <p:cNvCxnSpPr>
            <a:cxnSpLocks/>
          </p:cNvCxnSpPr>
          <p:nvPr/>
        </p:nvCxnSpPr>
        <p:spPr>
          <a:xfrm>
            <a:off x="6096000" y="1460956"/>
            <a:ext cx="0" cy="4711244"/>
          </a:xfrm>
          <a:prstGeom prst="line">
            <a:avLst/>
          </a:prstGeom>
          <a:ln w="9525" cap="flat" cmpd="sng" algn="ctr">
            <a:solidFill>
              <a:srgbClr val="8C2D1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F0D91B-9F99-43E3-A45C-8BA39FC59471}"/>
              </a:ext>
            </a:extLst>
          </p:cNvPr>
          <p:cNvCxnSpPr>
            <a:cxnSpLocks/>
          </p:cNvCxnSpPr>
          <p:nvPr/>
        </p:nvCxnSpPr>
        <p:spPr>
          <a:xfrm>
            <a:off x="647700" y="3429000"/>
            <a:ext cx="5448300" cy="0"/>
          </a:xfrm>
          <a:prstGeom prst="line">
            <a:avLst/>
          </a:prstGeom>
          <a:ln w="9525" cap="flat" cmpd="sng" algn="ctr">
            <a:solidFill>
              <a:srgbClr val="8C2D1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EC3BA1D-6566-4A1E-BC2B-0FE9E11CD312}"/>
              </a:ext>
            </a:extLst>
          </p:cNvPr>
          <p:cNvSpPr txBox="1"/>
          <p:nvPr/>
        </p:nvSpPr>
        <p:spPr>
          <a:xfrm>
            <a:off x="652298" y="3677216"/>
            <a:ext cx="44961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pt-P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General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pt-PT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pt-P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API Root: </a:t>
            </a:r>
            <a:r>
              <a:rPr kumimoji="0" lang="en-US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7"/>
              </a:rPr>
              <a:t>http://ws.audioscrobbler.com/2.0/</a:t>
            </a:r>
            <a:endParaRPr kumimoji="0" lang="en-US" altLang="pt-P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pt-P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Common Parameters: </a:t>
            </a:r>
            <a:r>
              <a:rPr kumimoji="0" lang="en-US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method, </a:t>
            </a:r>
            <a:r>
              <a:rPr kumimoji="0" lang="en-US" altLang="pt-P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api_key</a:t>
            </a:r>
            <a:r>
              <a:rPr kumimoji="0" lang="en-US" alt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format=json</a:t>
            </a:r>
            <a:endParaRPr kumimoji="0" lang="pt-PT" altLang="pt-P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4A6B8E-3FF5-48D1-80FA-5019628B1828}"/>
              </a:ext>
            </a:extLst>
          </p:cNvPr>
          <p:cNvSpPr txBox="1"/>
          <p:nvPr/>
        </p:nvSpPr>
        <p:spPr>
          <a:xfrm>
            <a:off x="762000" y="1395036"/>
            <a:ext cx="51625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  Goal</a:t>
            </a:r>
          </a:p>
          <a:p>
            <a:r>
              <a:rPr lang="en-US" dirty="0"/>
              <a:t>Enhance the dataset with </a:t>
            </a:r>
            <a:r>
              <a:rPr lang="en-US" b="1" dirty="0"/>
              <a:t>musical metadata</a:t>
            </a:r>
            <a:r>
              <a:rPr lang="en-US" dirty="0"/>
              <a:t> retrieved from the </a:t>
            </a:r>
            <a:r>
              <a:rPr lang="en-US" b="1" dirty="0"/>
              <a:t>Last.fm API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Artist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Album title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Release 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 description</a:t>
            </a:r>
          </a:p>
        </p:txBody>
      </p:sp>
      <p:pic>
        <p:nvPicPr>
          <p:cNvPr id="3" name="Graphic 2" descr="Bullseye with solid fill">
            <a:extLst>
              <a:ext uri="{FF2B5EF4-FFF2-40B4-BE49-F238E27FC236}">
                <a16:creationId xmlns:a16="http://schemas.microsoft.com/office/drawing/2014/main" id="{D2322FB6-56E0-451D-AAFB-0304299781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" y="1387784"/>
            <a:ext cx="359937" cy="359937"/>
          </a:xfrm>
          <a:prstGeom prst="rect">
            <a:avLst/>
          </a:prstGeom>
        </p:spPr>
      </p:pic>
      <p:pic>
        <p:nvPicPr>
          <p:cNvPr id="9" name="Graphic 8" descr="Single gear with solid fill">
            <a:extLst>
              <a:ext uri="{FF2B5EF4-FFF2-40B4-BE49-F238E27FC236}">
                <a16:creationId xmlns:a16="http://schemas.microsoft.com/office/drawing/2014/main" id="{D2AAC161-E5CE-4952-95E9-B57499A3CC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0885" y="3674576"/>
            <a:ext cx="360000" cy="360000"/>
          </a:xfrm>
          <a:prstGeom prst="rect">
            <a:avLst/>
          </a:prstGeom>
        </p:spPr>
      </p:pic>
      <p:pic>
        <p:nvPicPr>
          <p:cNvPr id="15" name="Graphic 14" descr="Lightbulb and gear with solid fill">
            <a:extLst>
              <a:ext uri="{FF2B5EF4-FFF2-40B4-BE49-F238E27FC236}">
                <a16:creationId xmlns:a16="http://schemas.microsoft.com/office/drawing/2014/main" id="{0AF49D52-CAE8-4989-A3D8-3F4C38FBE1D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15051" y="1387721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00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1C09C0E-4560-6624-9EE4-8DA955D4FBE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7" name="think-cell Slide" r:id="rId5" imgW="473" imgH="473" progId="TCLayout.ActiveDocument.1">
                  <p:embed/>
                </p:oleObj>
              </mc:Choice>
              <mc:Fallback>
                <p:oleObj name="think-cell Slide" r:id="rId5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C09C0E-4560-6624-9EE4-8DA955D4F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86609DE-22BB-15A4-13D1-28E5896D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91" y="258047"/>
            <a:ext cx="11000018" cy="888774"/>
          </a:xfrm>
        </p:spPr>
        <p:txBody>
          <a:bodyPr vert="horz">
            <a:normAutofit fontScale="9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pt-PT" sz="4800" b="0" i="0" u="none" strike="noStrike" dirty="0">
                <a:effectLst/>
              </a:rPr>
            </a:br>
            <a:r>
              <a:rPr lang="en-US" sz="4900" dirty="0"/>
              <a:t> Enriched Dataset</a:t>
            </a:r>
            <a:br>
              <a:rPr lang="pt-PT" sz="1600" b="0" dirty="0">
                <a:effectLst/>
              </a:rPr>
            </a:br>
            <a:br>
              <a:rPr lang="pt-PT" sz="1600" dirty="0"/>
            </a:br>
            <a:endParaRPr lang="en-US" sz="2800" dirty="0"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02131-D13B-26E9-3372-8B874CE2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C0AB8-4AF9-4E8B-9E03-E39E88D7668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Rectangle 21">
            <a:extLst>
              <a:ext uri="{FF2B5EF4-FFF2-40B4-BE49-F238E27FC236}">
                <a16:creationId xmlns:a16="http://schemas.microsoft.com/office/drawing/2014/main" id="{FFFB4E70-F5F8-4DC0-8B04-D7640BD76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4" y="1443840"/>
            <a:ext cx="947737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The dataset produced by the pipeline is organized into two main tables, </a:t>
            </a:r>
            <a:r>
              <a:rPr lang="en-US" dirty="0" err="1"/>
              <a:t>Musics</a:t>
            </a:r>
            <a:r>
              <a:rPr lang="en-US" dirty="0"/>
              <a:t> and Artists, each containing enriched metadata collected from the Last.fm API.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Musics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Lyrics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Song lyrics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Album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lastfm_album_name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Link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Song identifier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Description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lastfm_track_description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Release 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lastfm_release_date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Artists Table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Artist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Artist 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Last.fm 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lastfm_artist_name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lastfm_artist_bio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34982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1C09C0E-4560-6624-9EE4-8DA955D4FBE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"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C09C0E-4560-6624-9EE4-8DA955D4F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86609DE-22BB-15A4-13D1-28E5896D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91" y="258047"/>
            <a:ext cx="11000018" cy="888774"/>
          </a:xfrm>
        </p:spPr>
        <p:txBody>
          <a:bodyPr vert="horz"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ea typeface="+mn-ea"/>
                <a:cs typeface="+mn-cs"/>
              </a:rPr>
              <a:t>Data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02131-D13B-26E9-3372-8B874CE2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C0AB8-4AF9-4E8B-9E03-E39E88D7668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D4DE9785-3A35-4F01-86D1-1442EACAD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695" y="1424781"/>
            <a:ext cx="279082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General Checks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Null values → Identify missing data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Duplicate rows → Detect repeated records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Unique values per column → Check data variety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3B68EE-DB85-4C5A-91A0-1FB2BEDBE198}"/>
              </a:ext>
            </a:extLst>
          </p:cNvPr>
          <p:cNvSpPr txBox="1"/>
          <p:nvPr/>
        </p:nvSpPr>
        <p:spPr>
          <a:xfrm>
            <a:off x="4257676" y="1426458"/>
            <a:ext cx="36385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Individual Checks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Short strings → Validate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artist_bio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lyrics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Wrong artist bios → Remove nulls and detect invalid entries containing: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"There are"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"Read more on Last.fm"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PT" altLang="pt-PT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PT" altLang="pt-P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PT" altLang="pt-P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E69BB5-0068-4F5F-A1AE-9805581078E9}"/>
              </a:ext>
            </a:extLst>
          </p:cNvPr>
          <p:cNvCxnSpPr>
            <a:cxnSpLocks/>
          </p:cNvCxnSpPr>
          <p:nvPr/>
        </p:nvCxnSpPr>
        <p:spPr>
          <a:xfrm>
            <a:off x="3810000" y="1321594"/>
            <a:ext cx="0" cy="4711244"/>
          </a:xfrm>
          <a:prstGeom prst="line">
            <a:avLst/>
          </a:prstGeom>
          <a:ln w="9525" cap="flat" cmpd="sng" algn="ctr">
            <a:solidFill>
              <a:srgbClr val="8C2D1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F0D91B-9F99-43E3-A45C-8BA39FC59471}"/>
              </a:ext>
            </a:extLst>
          </p:cNvPr>
          <p:cNvCxnSpPr>
            <a:cxnSpLocks/>
          </p:cNvCxnSpPr>
          <p:nvPr/>
        </p:nvCxnSpPr>
        <p:spPr>
          <a:xfrm>
            <a:off x="647700" y="3429000"/>
            <a:ext cx="10915650" cy="0"/>
          </a:xfrm>
          <a:prstGeom prst="line">
            <a:avLst/>
          </a:prstGeom>
          <a:ln w="9525" cap="flat" cmpd="sng" algn="ctr">
            <a:solidFill>
              <a:srgbClr val="8C2D1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EC3BA1D-6566-4A1E-BC2B-0FE9E11CD312}"/>
              </a:ext>
            </a:extLst>
          </p:cNvPr>
          <p:cNvSpPr txBox="1"/>
          <p:nvPr/>
        </p:nvSpPr>
        <p:spPr>
          <a:xfrm>
            <a:off x="652298" y="3677216"/>
            <a:ext cx="278622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Handling Nulls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album_name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Replace nulls with "Single"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64C90F-9C2E-42D8-9380-E54F45C6D864}"/>
              </a:ext>
            </a:extLst>
          </p:cNvPr>
          <p:cNvSpPr txBox="1"/>
          <p:nvPr/>
        </p:nvSpPr>
        <p:spPr>
          <a:xfrm>
            <a:off x="8162925" y="3715256"/>
            <a:ext cx="350519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Columns Added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Songs: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artist_id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(connect to Artists), id (unique song identifier)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B67543-09D4-4CBC-82A2-F12E5E3DED90}"/>
              </a:ext>
            </a:extLst>
          </p:cNvPr>
          <p:cNvCxnSpPr>
            <a:cxnSpLocks/>
          </p:cNvCxnSpPr>
          <p:nvPr/>
        </p:nvCxnSpPr>
        <p:spPr>
          <a:xfrm>
            <a:off x="8162925" y="1321594"/>
            <a:ext cx="0" cy="4711244"/>
          </a:xfrm>
          <a:prstGeom prst="line">
            <a:avLst/>
          </a:prstGeom>
          <a:ln w="9525" cap="flat" cmpd="sng" algn="ctr">
            <a:solidFill>
              <a:srgbClr val="8C2D1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1622006-CCF9-455B-B37B-3FA2172E7C12}"/>
              </a:ext>
            </a:extLst>
          </p:cNvPr>
          <p:cNvSpPr txBox="1"/>
          <p:nvPr/>
        </p:nvSpPr>
        <p:spPr>
          <a:xfrm>
            <a:off x="4076700" y="3676762"/>
            <a:ext cx="38981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Column Renaming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lastfm_artist_bio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artist_bio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lastfm_album_name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album_name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643449-89FA-4BFD-9147-4143423F40A3}"/>
              </a:ext>
            </a:extLst>
          </p:cNvPr>
          <p:cNvSpPr txBox="1"/>
          <p:nvPr/>
        </p:nvSpPr>
        <p:spPr>
          <a:xfrm>
            <a:off x="8299847" y="1516860"/>
            <a:ext cx="39516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Columns Removed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Songs: link,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lastfm_track_description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lastfm_release_date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Artists: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lastfm_artist_name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154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1C09C0E-4560-6624-9EE4-8DA955D4FBE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5"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C09C0E-4560-6624-9EE4-8DA955D4F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86609DE-22BB-15A4-13D1-28E5896D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91" y="258047"/>
            <a:ext cx="11000018" cy="888774"/>
          </a:xfrm>
        </p:spPr>
        <p:txBody>
          <a:bodyPr vert="horz"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ea typeface="+mn-ea"/>
                <a:cs typeface="+mn-cs"/>
              </a:rPr>
              <a:t>System Conceptual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02131-D13B-26E9-3372-8B874CE2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C0AB8-4AF9-4E8B-9E03-E39E88D7668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AutoShape 17">
            <a:extLst>
              <a:ext uri="{FF2B5EF4-FFF2-40B4-BE49-F238E27FC236}">
                <a16:creationId xmlns:a16="http://schemas.microsoft.com/office/drawing/2014/main" id="{B60E8DAA-62DA-4AF1-B06C-EBF617C3EE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24100" y="-342900"/>
            <a:ext cx="3924300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CD8807-6B5E-4B38-87D0-A534143DFE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955" y="2671752"/>
            <a:ext cx="6096000" cy="18192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BDABFD-E8D2-40BB-BF3E-626910C8750A}"/>
              </a:ext>
            </a:extLst>
          </p:cNvPr>
          <p:cNvSpPr txBox="1"/>
          <p:nvPr/>
        </p:nvSpPr>
        <p:spPr>
          <a:xfrm>
            <a:off x="704850" y="1546409"/>
            <a:ext cx="47625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+mj-lt"/>
              </a:rPr>
              <a:t>Entities: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+mj-lt"/>
              </a:rPr>
              <a:t>Artist</a:t>
            </a:r>
            <a:r>
              <a:rPr lang="en-US" b="0" i="0" dirty="0">
                <a:effectLst/>
                <a:latin typeface="+mj-lt"/>
              </a:rPr>
              <a:t> (id, name, description)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Has → </a:t>
            </a:r>
            <a:r>
              <a:rPr lang="en-US" b="1" i="0" dirty="0">
                <a:effectLst/>
                <a:latin typeface="+mj-lt"/>
              </a:rPr>
              <a:t>Songs</a:t>
            </a:r>
            <a:endParaRPr lang="en-US" b="0" i="0" dirty="0"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+mj-lt"/>
              </a:rPr>
              <a:t>Song</a:t>
            </a:r>
            <a:r>
              <a:rPr lang="en-US" b="0" i="0" dirty="0">
                <a:effectLst/>
                <a:latin typeface="+mj-lt"/>
              </a:rPr>
              <a:t> (id, </a:t>
            </a:r>
            <a:r>
              <a:rPr lang="en-US" dirty="0">
                <a:latin typeface="+mj-lt"/>
              </a:rPr>
              <a:t>name</a:t>
            </a:r>
            <a:r>
              <a:rPr lang="en-US" b="0" i="0" dirty="0">
                <a:effectLst/>
                <a:latin typeface="+mj-lt"/>
              </a:rPr>
              <a:t>, lyrics, </a:t>
            </a:r>
            <a:r>
              <a:rPr lang="en-US" b="0" i="0" dirty="0" err="1">
                <a:effectLst/>
                <a:latin typeface="+mj-lt"/>
              </a:rPr>
              <a:t>album_name</a:t>
            </a:r>
            <a:r>
              <a:rPr lang="en-US" b="0" i="0" dirty="0">
                <a:effectLst/>
                <a:latin typeface="+mj-lt"/>
              </a:rPr>
              <a:t>, </a:t>
            </a:r>
            <a:r>
              <a:rPr lang="en-US" b="0" i="0" dirty="0" err="1">
                <a:effectLst/>
                <a:latin typeface="+mj-lt"/>
              </a:rPr>
              <a:t>artist_id</a:t>
            </a:r>
            <a:r>
              <a:rPr lang="en-US" b="0" i="0" dirty="0">
                <a:effectLst/>
                <a:latin typeface="+mj-lt"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Performed by → </a:t>
            </a:r>
            <a:r>
              <a:rPr lang="en-US" b="1" i="0" dirty="0">
                <a:effectLst/>
                <a:latin typeface="+mj-lt"/>
              </a:rPr>
              <a:t>Artist</a:t>
            </a:r>
            <a:endParaRPr lang="en-US" b="0" i="0" dirty="0">
              <a:effectLst/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B46B20-47E1-4474-8A3A-C49A7A7BDFF2}"/>
              </a:ext>
            </a:extLst>
          </p:cNvPr>
          <p:cNvSpPr txBox="1"/>
          <p:nvPr/>
        </p:nvSpPr>
        <p:spPr>
          <a:xfrm>
            <a:off x="595991" y="3318974"/>
            <a:ext cx="44713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Relationships:</a:t>
            </a:r>
          </a:p>
          <a:p>
            <a:endParaRPr lang="en-US" dirty="0"/>
          </a:p>
          <a:p>
            <a:r>
              <a:rPr lang="en-US" dirty="0"/>
              <a:t>One Artist → Many songs</a:t>
            </a:r>
          </a:p>
          <a:p>
            <a:r>
              <a:rPr lang="en-US" dirty="0"/>
              <a:t>One Song → One or more artists</a:t>
            </a:r>
          </a:p>
        </p:txBody>
      </p:sp>
    </p:spTree>
    <p:extLst>
      <p:ext uri="{BB962C8B-B14F-4D97-AF65-F5344CB8AC3E}">
        <p14:creationId xmlns:p14="http://schemas.microsoft.com/office/powerpoint/2010/main" val="587349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1C09C0E-4560-6624-9EE4-8DA955D4FBE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9"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C09C0E-4560-6624-9EE4-8DA955D4F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86609DE-22BB-15A4-13D1-28E5896D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91" y="258047"/>
            <a:ext cx="11000018" cy="888774"/>
          </a:xfrm>
        </p:spPr>
        <p:txBody>
          <a:bodyPr vert="horz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ea typeface="+mn-ea"/>
                <a:cs typeface="+mn-cs"/>
              </a:rPr>
              <a:t>Definition and Characterization of the Final Collection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02131-D13B-26E9-3372-8B874CE2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C0AB8-4AF9-4E8B-9E03-E39E88D7668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CBD75-0A30-4FE2-BA67-4625C8B6E144}"/>
              </a:ext>
            </a:extLst>
          </p:cNvPr>
          <p:cNvSpPr txBox="1"/>
          <p:nvPr/>
        </p:nvSpPr>
        <p:spPr>
          <a:xfrm>
            <a:off x="595991" y="1400174"/>
            <a:ext cx="1028155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the </a:t>
            </a:r>
            <a:r>
              <a:rPr lang="en-US" b="1" dirty="0"/>
              <a:t>data cleaning</a:t>
            </a:r>
            <a:r>
              <a:rPr lang="en-US" dirty="0"/>
              <a:t> and </a:t>
            </a:r>
            <a:r>
              <a:rPr lang="en-US" b="1" dirty="0"/>
              <a:t>preprocessing</a:t>
            </a:r>
            <a:r>
              <a:rPr lang="en-US" dirty="0"/>
              <a:t> steps, two final datasets were obtained: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Song → Contains information about each song, including: id, </a:t>
            </a:r>
            <a:r>
              <a:rPr lang="en-US" dirty="0" err="1"/>
              <a:t>artist_id</a:t>
            </a:r>
            <a:r>
              <a:rPr lang="en-US" dirty="0"/>
              <a:t>, title, </a:t>
            </a:r>
            <a:r>
              <a:rPr lang="en-US" dirty="0" err="1"/>
              <a:t>album_name</a:t>
            </a:r>
            <a:r>
              <a:rPr lang="en-US" dirty="0"/>
              <a:t>, and lyrics.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Each row in the </a:t>
            </a:r>
            <a:r>
              <a:rPr lang="en-US" b="1" dirty="0"/>
              <a:t>Song</a:t>
            </a:r>
            <a:r>
              <a:rPr lang="en-US" dirty="0"/>
              <a:t> dataset represents a unique song, including relevant metadata and a reference to its artist. In total, the dataset contains </a:t>
            </a:r>
            <a:r>
              <a:rPr lang="en-US" b="1" dirty="0"/>
              <a:t>55,185 entries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Artist → Contains information about each artist, including: id, </a:t>
            </a:r>
            <a:r>
              <a:rPr lang="en-US" dirty="0" err="1"/>
              <a:t>artist_name</a:t>
            </a:r>
            <a:r>
              <a:rPr lang="en-US" dirty="0"/>
              <a:t>, and </a:t>
            </a:r>
            <a:r>
              <a:rPr lang="en-US" dirty="0" err="1"/>
              <a:t>artist_bio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Each row in the </a:t>
            </a:r>
            <a:r>
              <a:rPr lang="en-US" b="1" dirty="0"/>
              <a:t>Artist</a:t>
            </a:r>
            <a:r>
              <a:rPr lang="en-US" dirty="0"/>
              <a:t> dataset represents a unique musical artist with cleaned and validated information. The dataset contains </a:t>
            </a:r>
            <a:r>
              <a:rPr lang="en-US" b="1" dirty="0"/>
              <a:t>643 entries </a:t>
            </a:r>
            <a:r>
              <a:rPr lang="en-US" dirty="0"/>
              <a:t>in total.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These datasets are </a:t>
            </a:r>
            <a:r>
              <a:rPr lang="en-US" b="1" dirty="0"/>
              <a:t>consistent</a:t>
            </a:r>
            <a:r>
              <a:rPr lang="en-US" dirty="0"/>
              <a:t>, </a:t>
            </a:r>
            <a:r>
              <a:rPr lang="en-US" b="1" dirty="0"/>
              <a:t>well-structured</a:t>
            </a:r>
            <a:r>
              <a:rPr lang="en-US" dirty="0"/>
              <a:t>, and </a:t>
            </a:r>
            <a:r>
              <a:rPr lang="en-US" b="1" dirty="0"/>
              <a:t>ready for analysis or integration</a:t>
            </a:r>
            <a:r>
              <a:rPr lang="en-US" dirty="0"/>
              <a:t> into the </a:t>
            </a:r>
            <a:r>
              <a:rPr lang="en-US" dirty="0" err="1"/>
              <a:t>Solr</a:t>
            </a:r>
            <a:r>
              <a:rPr lang="en-US" dirty="0"/>
              <a:t>.</a:t>
            </a:r>
          </a:p>
          <a:p>
            <a:r>
              <a:rPr lang="en-US" dirty="0"/>
              <a:t>We chose to </a:t>
            </a:r>
            <a:r>
              <a:rPr lang="en-US" b="1" dirty="0"/>
              <a:t>store them in CSV format</a:t>
            </a:r>
            <a:r>
              <a:rPr lang="en-US" dirty="0"/>
              <a:t> because it is: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Lightweight</a:t>
            </a:r>
            <a:r>
              <a:rPr lang="en-US" dirty="0"/>
              <a:t> and </a:t>
            </a:r>
            <a:r>
              <a:rPr lang="en-US" b="1" dirty="0"/>
              <a:t>easy to handle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Widely supported</a:t>
            </a:r>
            <a:r>
              <a:rPr lang="en-US" dirty="0"/>
              <a:t> across different tools and programming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Easy to visualize</a:t>
            </a:r>
            <a:r>
              <a:rPr lang="en-US" dirty="0"/>
              <a:t> in tools like Excel or pandas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Ideal for </a:t>
            </a:r>
            <a:r>
              <a:rPr lang="en-US" b="1" dirty="0"/>
              <a:t>data exchange</a:t>
            </a:r>
            <a:r>
              <a:rPr lang="en-US" dirty="0"/>
              <a:t> and </a:t>
            </a:r>
            <a:r>
              <a:rPr lang="en-US" b="1" dirty="0"/>
              <a:t>further processing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169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1C09C0E-4560-6624-9EE4-8DA955D4FBE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C09C0E-4560-6624-9EE4-8DA955D4F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86609DE-22BB-15A4-13D1-28E5896D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91" y="258047"/>
            <a:ext cx="11000018" cy="888774"/>
          </a:xfrm>
        </p:spPr>
        <p:txBody>
          <a:bodyPr vert="horz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ea typeface="+mn-ea"/>
                <a:cs typeface="+mn-cs"/>
              </a:rPr>
              <a:t>Definition and Characterization of the Final Collection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02131-D13B-26E9-3372-8B874CE2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C0AB8-4AF9-4E8B-9E03-E39E88D7668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CBD75-0A30-4FE2-BA67-4625C8B6E144}"/>
              </a:ext>
            </a:extLst>
          </p:cNvPr>
          <p:cNvSpPr txBox="1"/>
          <p:nvPr/>
        </p:nvSpPr>
        <p:spPr>
          <a:xfrm>
            <a:off x="595991" y="1400174"/>
            <a:ext cx="10281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6A55EA-D18F-49CD-B798-71B1B89EF6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9427" y="1304925"/>
            <a:ext cx="4435582" cy="234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321265-D1D2-4E41-98E8-BA4021978C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991" y="1304925"/>
            <a:ext cx="4435581" cy="234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64D10-63F8-4BC8-B8A2-CEC4AE6FF4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991" y="3993527"/>
            <a:ext cx="3942741" cy="234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553194-9589-4144-A3F1-6DC09EFB59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850" y="3993527"/>
            <a:ext cx="3790413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43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1C09C0E-4560-6624-9EE4-8DA955D4FBE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3"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C09C0E-4560-6624-9EE4-8DA955D4F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86609DE-22BB-15A4-13D1-28E5896D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91" y="258047"/>
            <a:ext cx="11000018" cy="888774"/>
          </a:xfrm>
        </p:spPr>
        <p:txBody>
          <a:bodyPr vert="horz">
            <a:normAutofit fontScale="9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pt-PT" sz="4800" b="0" i="0" u="none" strike="noStrike" dirty="0">
                <a:effectLst/>
              </a:rPr>
            </a:br>
            <a:r>
              <a:rPr lang="en-US" sz="4900" dirty="0"/>
              <a:t> Information Needs</a:t>
            </a:r>
            <a:br>
              <a:rPr lang="pt-PT" sz="1600" b="0" dirty="0">
                <a:effectLst/>
              </a:rPr>
            </a:br>
            <a:br>
              <a:rPr lang="pt-PT" sz="1600" dirty="0"/>
            </a:br>
            <a:endParaRPr lang="en-US" sz="2800" dirty="0"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02131-D13B-26E9-3372-8B874CE2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C0AB8-4AF9-4E8B-9E03-E39E88D7668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Rectangle 29">
            <a:extLst>
              <a:ext uri="{FF2B5EF4-FFF2-40B4-BE49-F238E27FC236}">
                <a16:creationId xmlns:a16="http://schemas.microsoft.com/office/drawing/2014/main" id="{CCDB7A09-FC03-433A-98B5-000D21C1587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95991" y="1490929"/>
            <a:ext cx="1069249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Search songs by sentiment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Ability to find songs based on emotions or mood expressed in the lyrics.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Similarity-based search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Find songs that are similar in style, theme, or lyrical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Filter songs by violence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Identify and exclude or focus on songs containing violent themes.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Relate artist background to lyrics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Connect the personal or professional background of an artist with the content of their songs.</a:t>
            </a:r>
          </a:p>
        </p:txBody>
      </p:sp>
    </p:spTree>
    <p:extLst>
      <p:ext uri="{BB962C8B-B14F-4D97-AF65-F5344CB8AC3E}">
        <p14:creationId xmlns:p14="http://schemas.microsoft.com/office/powerpoint/2010/main" val="20209893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 algn="l">
          <a:defRPr sz="20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</TotalTime>
  <Words>1464</Words>
  <Application>Microsoft Office PowerPoint</Application>
  <PresentationFormat>Widescreen</PresentationFormat>
  <Paragraphs>196</Paragraphs>
  <Slides>12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think-cell Slide</vt:lpstr>
      <vt:lpstr>Tunix - Music Search System</vt:lpstr>
      <vt:lpstr>Tunix - Music Search System</vt:lpstr>
      <vt:lpstr>Data Sources</vt:lpstr>
      <vt:lpstr>Exploratory Data Analysis</vt:lpstr>
      <vt:lpstr>Exploratory Data Analysis</vt:lpstr>
      <vt:lpstr>  Data Processing Pipeline  </vt:lpstr>
      <vt:lpstr>  Enriched Dataset  </vt:lpstr>
      <vt:lpstr>Data Analysis</vt:lpstr>
      <vt:lpstr>System Conceptual Model</vt:lpstr>
      <vt:lpstr>Definition and Characterization of the Final Collection</vt:lpstr>
      <vt:lpstr>Definition and Characterization of the Final Collection</vt:lpstr>
      <vt:lpstr>  Information Needs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Gestão de Abastecimento de Água</dc:title>
  <dc:creator>Inês Pereira</dc:creator>
  <cp:lastModifiedBy>António Pedro Queirós</cp:lastModifiedBy>
  <cp:revision>48</cp:revision>
  <dcterms:created xsi:type="dcterms:W3CDTF">2024-04-06T14:06:33Z</dcterms:created>
  <dcterms:modified xsi:type="dcterms:W3CDTF">2025-10-12T13:37:37Z</dcterms:modified>
</cp:coreProperties>
</file>